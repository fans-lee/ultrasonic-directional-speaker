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4" r:id="rId2"/>
  </p:sldMasterIdLst>
  <p:notesMasterIdLst>
    <p:notesMasterId r:id="rId14"/>
  </p:notesMasterIdLst>
  <p:handoutMasterIdLst>
    <p:handoutMasterId r:id="rId15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79"/>
  </p:normalViewPr>
  <p:slideViewPr>
    <p:cSldViewPr snapToGrid="0" snapToObjects="1">
      <p:cViewPr varScale="1">
        <p:scale>
          <a:sx n="111" d="100"/>
          <a:sy n="111" d="100"/>
        </p:scale>
        <p:origin x="39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0" d="100"/>
          <a:sy n="90" d="100"/>
        </p:scale>
        <p:origin x="384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D98225-48BD-C644-AB89-CEA2E14BE1E6}" type="datetimeFigureOut">
              <a:rPr kumimoji="1" lang="zh-CN" altLang="en-US" smtClean="0"/>
              <a:t>2026/9/17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5B79B-040B-1240-9DF0-63F66B899D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 b="1"/>
            </a:pPr>
            <a:r>
              <a:t>封面（不计入 7 分钟，等评委就座时展示）</a:t>
            </a:r>
          </a:p>
          <a:p>
            <a:pPr>
              <a:defRPr sz="1100"/>
            </a:pPr>
            <a:r>
              <a:t>建议开场只有一句：我们把可听声音调制到 40 kHz 超声载波上，用 120 只换能器同相发射，靠云台把窄声束指向被选中的人。</a:t>
            </a:r>
          </a:p>
          <a:p>
            <a:pPr>
              <a:defRPr sz="1100"/>
            </a:pPr>
            <a:r>
              <a:t>整机照片请替换右侧占位框；团队信息替换底部占位文字。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 b="1"/>
            </a:pPr>
            <a:r>
              <a:t>第 1 页｜想法来源（15 秒）</a:t>
            </a:r>
          </a:p>
          <a:p>
            <a:pPr>
              <a:defRPr sz="1100"/>
            </a:pPr>
            <a:r>
              <a:t>讲：一句个人经历 + 一句研究问题，不要在首页展开热声方程。</a:t>
            </a:r>
          </a:p>
          <a:p>
            <a:pPr>
              <a:defRPr sz="1100"/>
            </a:pPr>
            <a:r>
              <a:t>若课堂设备照片无法取得，用论文中带来源的示意图，并明确说明“示意图，非课堂实物”。</a:t>
            </a:r>
          </a:p>
          <a:p>
            <a:pPr>
              <a:defRPr sz="1100"/>
            </a:pPr>
            <a:r>
              <a:t>必须点明换能机制不同，避免评委误以为我们在复现碳纳米管器件。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 b="1"/>
            </a:pPr>
            <a:r>
              <a:t>第 2 页｜最终系统（30 秒）</a:t>
            </a:r>
          </a:p>
          <a:p>
            <a:pPr>
              <a:defRPr sz="1100"/>
            </a:pPr>
            <a:r>
              <a:t>讲：电脑实时拿声音和画面，ESP32 驱动阵面与云台；人是被点击选中的。</a:t>
            </a:r>
          </a:p>
          <a:p>
            <a:pPr>
              <a:defRPr sz="1100"/>
            </a:pPr>
            <a:r>
              <a:t>主动交代技术边界（机械转向、非电子相控），评委会认为团队清楚自己在做什么。</a:t>
            </a:r>
          </a:p>
          <a:p>
            <a:pPr>
              <a:defRPr sz="1100"/>
            </a:pPr>
            <a:r>
              <a:t>争取替换整机照片或嵌入 5 秒视频。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 b="1"/>
            </a:pPr>
            <a:r>
              <a:t>第 3 页｜3×4 原型（40 秒）</a:t>
            </a:r>
          </a:p>
          <a:p>
            <a:pPr>
              <a:defRPr sz="1100"/>
            </a:pPr>
            <a:r>
              <a:t>讲：能响，但像蚊子叫，而且离轴还能听见 —— 于是有了后面五项改造。</a:t>
            </a:r>
          </a:p>
          <a:p>
            <a:pPr>
              <a:defRPr sz="1100"/>
            </a:pPr>
            <a:r>
              <a:t>原理页要讲清 ±12 V 差分 = 24 Vpp，避免被追问“你们哪来的 ±12 V 电源”。</a:t>
            </a:r>
          </a:p>
          <a:p>
            <a:pPr>
              <a:defRPr sz="1100"/>
            </a:pPr>
            <a:r>
              <a:t>明确说这一页的结论不能外推到 120 阵元。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 b="1"/>
            </a:pPr>
            <a:r>
              <a:t>第 4 页｜困难一：软件调制（45 秒）</a:t>
            </a:r>
          </a:p>
          <a:p>
            <a:pPr>
              <a:defRPr sz="1100"/>
            </a:pPr>
            <a:r>
              <a:t>四问结构：观察到什么 → 原因假设 → 改动是什么 → 证据是什么。</a:t>
            </a:r>
          </a:p>
          <a:p>
            <a:pPr>
              <a:defRPr sz="1100"/>
            </a:pPr>
            <a:r>
              <a:t>Berktay 公式只需念出 p ∝ d²[E²]/dt²，不要推导。</a:t>
            </a:r>
          </a:p>
          <a:p>
            <a:pPr>
              <a:defRPr sz="1100"/>
            </a:pPr>
            <a:r>
              <a:t>5–10 dB 目前是团队报告值；若来自手机 App，答辩时务必说“初步相对读数”，不能说校准声压级。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 b="1"/>
            </a:pPr>
            <a:r>
              <a:t>第 5 页｜困难二：分路驱动与谐振匹配（50 秒）· 本页是重点</a:t>
            </a:r>
          </a:p>
          <a:p>
            <a:pPr>
              <a:defRPr sz="1100"/>
            </a:pPr>
            <a:r>
              <a:t>这一页的实物工作已经完成：12 路都做了 40 kHz 附近的复阻抗测量，并逐路配置了谐振电感与补偿/阻尼元件。</a:t>
            </a:r>
          </a:p>
          <a:p>
            <a:pPr>
              <a:defRPr sz="1100"/>
            </a:pPr>
            <a:r>
              <a:t>注意：仓库的接线文档仍写着“未安装匹配”，那份文档是旧的。答辩一律以新实物证据为准，不要拿旧文档的图当最终状态。</a:t>
            </a:r>
          </a:p>
          <a:p>
            <a:pPr>
              <a:defRPr sz="1100"/>
            </a:pPr>
            <a:r>
              <a:t>元件连接位置必须以实物近照为准，不要在 PPT 里凭想象画串/并联拓扑。</a:t>
            </a:r>
          </a:p>
          <a:p>
            <a:pPr>
              <a:defRPr sz="1100"/>
            </a:pPr>
            <a:r>
              <a:t>若拿到扫频数据，优先放 39–41 kHz 的曲线，能同时回答“匹配是否把边带压窄”这个追问。</a:t>
            </a:r>
          </a:p>
          <a:p>
            <a:pPr>
              <a:defRPr sz="1100"/>
            </a:pPr>
            <a:r>
              <a:t>待补数据：12 路 L/C/R 值、匹配前后复阻抗、端电压 / 电流 / 温升、同条件可听声级。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 b="1"/>
            </a:pPr>
            <a:r>
              <a:t>第 6 页｜困难三：谐波、音色与结构漏声（50 秒）</a:t>
            </a:r>
          </a:p>
          <a:p>
            <a:pPr>
              <a:defRPr sz="1100"/>
            </a:pPr>
            <a:r>
              <a:t>三条线要分开讲：谐波来自调制规律，音色处理来自电脑端 DSP，漏声来自机械结构。</a:t>
            </a:r>
          </a:p>
          <a:p>
            <a:pPr>
              <a:defRPr sz="1100"/>
            </a:pPr>
            <a:r>
              <a:t>SRAM 只是“理想模型下更线性”，压电换能器带宽有限，不要宣称真机上一定更好。</a:t>
            </a:r>
          </a:p>
          <a:p>
            <a:pPr>
              <a:defRPr sz="1100"/>
            </a:pPr>
            <a:r>
              <a:t>结构线若时间紧，压缩为页边小图，完整测试放备份页。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 b="1"/>
            </a:pPr>
            <a:r>
              <a:t>第 7 页｜困难四：目标移动与近距离失效（55 秒）</a:t>
            </a:r>
          </a:p>
          <a:p>
            <a:pPr>
              <a:defRPr sz="1100"/>
            </a:pPr>
            <a:r>
              <a:t>算法链一句话带过（YOLO → ByteTrack → Kalman → PI → 云台）。</a:t>
            </a:r>
          </a:p>
          <a:p>
            <a:pPr>
              <a:defRPr sz="1100"/>
            </a:pPr>
            <a:r>
              <a:t>重点讲近距离策略：0.6×框中心 + 0.4×框顶，等价于框顶下方约 30% 框高处；强调有迟滞，不会来回跳。</a:t>
            </a:r>
          </a:p>
          <a:p>
            <a:pPr>
              <a:defRPr sz="1100"/>
            </a:pPr>
            <a:r>
              <a:t>明确否认人脸识别，只做人体检测与轨迹 ID。</a:t>
            </a:r>
          </a:p>
          <a:p>
            <a:pPr>
              <a:defRPr sz="1100"/>
            </a:pPr>
            <a:r>
              <a:t>Kd = 0，只说 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 b="1"/>
            </a:pPr>
            <a:r>
              <a:t>第 8 页｜困难五：共用一根 USB 串口（55 秒）</a:t>
            </a:r>
          </a:p>
          <a:p>
            <a:pPr>
              <a:defRPr sz="1100"/>
            </a:pPr>
            <a:r>
              <a:t>一条 20 ms 时间线 + 一张简化帧结构图，不要放完整协议字段表（放备份页）。</a:t>
            </a:r>
          </a:p>
          <a:p>
            <a:pPr>
              <a:defRPr sz="1100"/>
            </a:pPr>
            <a:r>
              <a:t>关键设计取舍：控制命令要 ACK，实时音频不重传；过期音频宁可丢，也不要排队造成延迟。</a:t>
            </a:r>
          </a:p>
          <a:p>
            <a:pPr>
              <a:defRPr sz="1100"/>
            </a:pPr>
            <a:r>
              <a:t>方案演进按事实讲：JSON / gRPC 是考虑过的方案，最终选二进制是为了可预测分帧、低解析开销与现有硬件适配。</a:t>
            </a:r>
          </a:p>
          <a:p>
            <a:pPr>
              <a:defRPr sz="1100"/>
            </a:pPr>
            <a:r>
              <a:t>不要声称 JSON 带宽不够——净音频只有约 8 kB/s。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 b="1"/>
            </a:pPr>
            <a:r>
              <a:t>第 9 页｜实验结果（45 秒）</a:t>
            </a:r>
          </a:p>
          <a:p>
            <a:pPr>
              <a:defRPr sz="1100"/>
            </a:pPr>
            <a:r>
              <a:t>三张主图不得用示意图充当测量图；没有数据就保留占位符，绝不臆造曲线或统计量。</a:t>
            </a:r>
          </a:p>
          <a:p>
            <a:pPr>
              <a:defRPr sz="1100"/>
            </a:pPr>
            <a:r>
              <a:t>优先顺序：方向图 &gt; 追踪误差曲线。匹配前后的端电压/电流/温升若只有代表性支路，完整 12 路表放备份页。</a:t>
            </a:r>
          </a:p>
          <a:p>
            <a:pPr>
              <a:defRPr sz="1100"/>
            </a:pPr>
            <a:r>
              <a:t>手机 App 的读数只能说“初步相对读数”。</a:t>
            </a:r>
          </a:p>
          <a:p>
            <a:pPr>
              <a:defRPr sz="1100"/>
            </a:pPr>
            <a:r>
              <a:t>页面每张图都要带上测试条件，这能显著增强答辩可信度。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 b="1"/>
            </a:pPr>
            <a:r>
              <a:t>第 10 页｜结论与边界（35 秒）</a:t>
            </a:r>
          </a:p>
          <a:p>
            <a:pPr>
              <a:defRPr sz="1100"/>
            </a:pPr>
            <a:r>
              <a:t>结论只说到这里：能播实时音频、能跟随指定人物、完成了逐路匹配。</a:t>
            </a:r>
          </a:p>
          <a:p>
            <a:pPr>
              <a:defRPr sz="1100"/>
            </a:pPr>
            <a:r>
              <a:t>主动划边界：全阵同相 + 云台机械转向，不是电子相控阵，没有距离维聚焦。</a:t>
            </a:r>
          </a:p>
          <a:p>
            <a:pPr>
              <a:defRPr sz="1100"/>
            </a:pPr>
            <a:r>
              <a:t>未校准的量不要报数字。答辩里“未测”比一个错数字安全得多。</a:t>
            </a:r>
          </a:p>
          <a:p>
            <a:pPr>
              <a:defRPr sz="1100"/>
            </a:pPr>
            <a:r>
              <a:t>如果评委追问 5–10 dB，回答：这是团队报告的初步相对读数，正式同条件测量正在补齐。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951" y="7247"/>
            <a:ext cx="9144000" cy="5138928"/>
          </a:xfrm>
          <a:prstGeom prst="rect">
            <a:avLst/>
          </a:prstGeom>
        </p:spPr>
      </p:pic>
      <p:sp>
        <p:nvSpPr>
          <p:cNvPr id="19" name="标题 18"/>
          <p:cNvSpPr>
            <a:spLocks noGrp="1"/>
          </p:cNvSpPr>
          <p:nvPr>
            <p:ph type="title"/>
          </p:nvPr>
        </p:nvSpPr>
        <p:spPr>
          <a:xfrm>
            <a:off x="485526" y="2063112"/>
            <a:ext cx="8014417" cy="602095"/>
          </a:xfrm>
          <a:prstGeom prst="rect">
            <a:avLst/>
          </a:prstGeom>
        </p:spPr>
        <p:txBody>
          <a:bodyPr/>
          <a:lstStyle>
            <a:lvl1pPr>
              <a:defRPr sz="36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0"/>
          </p:nvPr>
        </p:nvSpPr>
        <p:spPr>
          <a:xfrm>
            <a:off x="485527" y="2665207"/>
            <a:ext cx="3354388" cy="3492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43" name="文本占位符 42"/>
          <p:cNvSpPr>
            <a:spLocks noGrp="1"/>
          </p:cNvSpPr>
          <p:nvPr>
            <p:ph type="body" sz="quarter" idx="11"/>
          </p:nvPr>
        </p:nvSpPr>
        <p:spPr>
          <a:xfrm>
            <a:off x="532892" y="3881172"/>
            <a:ext cx="3354388" cy="246062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002060"/>
              </a:buClr>
              <a:buSzPct val="85000"/>
              <a:buFont typeface="Wingdings" panose="05000000000000000000" pitchFamily="2" charset="2"/>
              <a:buChar char="l"/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45" name="文本占位符 44"/>
          <p:cNvSpPr>
            <a:spLocks noGrp="1"/>
          </p:cNvSpPr>
          <p:nvPr>
            <p:ph type="body" sz="quarter" idx="12"/>
          </p:nvPr>
        </p:nvSpPr>
        <p:spPr>
          <a:xfrm>
            <a:off x="533400" y="4254500"/>
            <a:ext cx="3306763" cy="24606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7030A0"/>
              </a:buClr>
              <a:buSzPct val="85000"/>
              <a:buFont typeface="Wingdings" panose="05000000000000000000" pitchFamily="2" charset="2"/>
              <a:buChar char="l"/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572"/>
            <a:ext cx="9144000" cy="5138928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398283" y="691791"/>
            <a:ext cx="3855665" cy="38163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i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572"/>
            <a:ext cx="9144000" cy="5138928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541047" y="676261"/>
            <a:ext cx="1549400" cy="452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目录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501482" y="987494"/>
            <a:ext cx="1549399" cy="2824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="1" i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en-US" altLang="zh-CN" dirty="0"/>
              <a:t>CONTENT</a:t>
            </a:r>
            <a:endParaRPr kumimoji="1"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2"/>
          </p:nvPr>
        </p:nvSpPr>
        <p:spPr>
          <a:xfrm>
            <a:off x="3089267" y="1948386"/>
            <a:ext cx="3669341" cy="2687224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ts val="408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0000"/>
              <a:buFont typeface="Wingdings" panose="05000000000000000000" pitchFamily="2" charset="2"/>
              <a:buChar char="l"/>
              <a:defRPr sz="1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点击此处编辑母版文本样式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点击此处编辑母版文本样式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点击此处编辑母版文本样式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38928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406234" y="2231596"/>
            <a:ext cx="4165766" cy="6803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 i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572"/>
            <a:ext cx="9144000" cy="5138928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588963" y="1765300"/>
            <a:ext cx="4507823" cy="556482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1" hasCustomPrompt="1"/>
          </p:nvPr>
        </p:nvSpPr>
        <p:spPr>
          <a:xfrm>
            <a:off x="723845" y="2787068"/>
            <a:ext cx="1216025" cy="11652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二维码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612816" y="2319855"/>
            <a:ext cx="3362325" cy="18573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单击此处编辑英文标题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612816" y="4084793"/>
            <a:ext cx="2400300" cy="341312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1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2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E4A1-F0AA-8B49-9CCA-76BE70020728}" type="datetimeFigureOut">
              <a:rPr kumimoji="1" lang="zh-CN" altLang="en-US" smtClean="0"/>
              <a:t>2026/9/17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107DB-391B-C34A-B20A-8DF277B62B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E4A1-F0AA-8B49-9CCA-76BE70020728}" type="datetimeFigureOut">
              <a:rPr kumimoji="1" lang="zh-CN" altLang="en-US" smtClean="0"/>
              <a:t>2026/9/17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107DB-391B-C34A-B20A-8DF277B62B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E4A1-F0AA-8B49-9CCA-76BE70020728}" type="datetimeFigureOut">
              <a:rPr kumimoji="1" lang="zh-CN" altLang="en-US" smtClean="0"/>
              <a:t>2026/9/17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107DB-391B-C34A-B20A-8DF277B62B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E4A1-F0AA-8B49-9CCA-76BE70020728}" type="datetimeFigureOut">
              <a:rPr kumimoji="1" lang="zh-CN" altLang="en-US" smtClean="0"/>
              <a:t>2026/9/17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107DB-391B-C34A-B20A-8DF277B62B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E4A1-F0AA-8B49-9CCA-76BE70020728}" type="datetimeFigureOut">
              <a:rPr kumimoji="1" lang="zh-CN" altLang="en-US" smtClean="0"/>
              <a:t>2026/9/17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107DB-391B-C34A-B20A-8DF277B62B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E4A1-F0AA-8B49-9CCA-76BE70020728}" type="datetimeFigureOut">
              <a:rPr kumimoji="1" lang="zh-CN" altLang="en-US" smtClean="0"/>
              <a:t>2026/9/17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107DB-391B-C34A-B20A-8DF277B62B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E4A1-F0AA-8B49-9CCA-76BE70020728}" type="datetimeFigureOut">
              <a:rPr kumimoji="1" lang="zh-CN" altLang="en-US" smtClean="0"/>
              <a:t>2026/9/17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107DB-391B-C34A-B20A-8DF277B62B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E4A1-F0AA-8B49-9CCA-76BE70020728}" type="datetimeFigureOut">
              <a:rPr kumimoji="1" lang="zh-CN" altLang="en-US" smtClean="0"/>
              <a:t>2026/9/17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107DB-391B-C34A-B20A-8DF277B62B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E4A1-F0AA-8B49-9CCA-76BE70020728}" type="datetimeFigureOut">
              <a:rPr kumimoji="1" lang="zh-CN" altLang="en-US" smtClean="0"/>
              <a:t>2026/9/17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107DB-391B-C34A-B20A-8DF277B62B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3E4A1-F0AA-8B49-9CCA-76BE70020728}" type="datetimeFigureOut">
              <a:rPr kumimoji="1" lang="zh-CN" altLang="en-US" smtClean="0"/>
              <a:t>2026/9/17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107DB-391B-C34A-B20A-8DF277B62B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E4A1-F0AA-8B49-9CCA-76BE70020728}" type="datetimeFigureOut">
              <a:rPr kumimoji="1" lang="zh-CN" altLang="en-US" smtClean="0"/>
              <a:t>2026/9/17</a:t>
            </a:fld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107DB-391B-C34A-B20A-8DF277B62B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200" y="1908000"/>
            <a:ext cx="1188000" cy="57600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5200" y="2124584"/>
            <a:ext cx="5112000" cy="7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超声参量阵</a:t>
            </a:r>
            <a:r>
              <a:rPr lang="zh-CN" sz="2800" b="1" i="0" dirty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视觉跟随</a:t>
            </a:r>
            <a:r>
              <a:rPr sz="2800" b="1" i="0" dirty="0" err="1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定向音响</a:t>
            </a:r>
            <a:endParaRPr sz="2800" b="1" i="0" dirty="0">
              <a:solidFill>
                <a:srgbClr val="061A6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5995" y="2654740"/>
            <a:ext cx="5184000" cy="251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i="0">
                <a:solidFill>
                  <a:srgbClr val="5C6575"/>
                </a:solidFill>
                <a:latin typeface="Segoe UI" panose="020B0502040204020203"/>
                <a:ea typeface="Segoe UI" panose="020B0502040204020203"/>
              </a:rPr>
              <a:t>歪步焊钉队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zh-CN" altLang="zh-CN" sz="1600" b="0" i="0">
              <a:solidFill>
                <a:srgbClr val="5C6575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5775" y="3288665"/>
            <a:ext cx="5039995" cy="860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</a:t>
            </a:r>
            <a:r>
              <a:rPr lang="en-US" altLang="zh-CN" sz="11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54 </a:t>
            </a:r>
            <a:r>
              <a:rPr lang="zh-CN" altLang="en-US" sz="11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李方时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</a:t>
            </a:r>
            <a:r>
              <a:rPr lang="en-US" altLang="zh-CN" sz="11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 </a:t>
            </a:r>
            <a:r>
              <a:rPr lang="zh-CN" altLang="en-US" sz="11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曹烜赫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1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</a:t>
            </a:r>
            <a:r>
              <a:rPr lang="en-US" altLang="zh-CN" sz="11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54 </a:t>
            </a:r>
            <a:r>
              <a:rPr lang="zh-CN" altLang="en-US" sz="11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王睿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140" y="759460"/>
            <a:ext cx="2348230" cy="2354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000" y="583200"/>
            <a:ext cx="46800" cy="309600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3200" y="511200"/>
            <a:ext cx="7991999" cy="439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想法来源：从课堂演示到“能否用常见换能器实现”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3200" y="921600"/>
            <a:ext cx="6623999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上学期通识课上的一台定向音响演示，是这个项目的起点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3999" y="4867200"/>
            <a:ext cx="792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000" y="1195200"/>
            <a:ext cx="4104000" cy="16200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64800" rIns="100800" bIns="648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dirty="0" err="1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启发来源</a:t>
            </a:r>
            <a:endParaRPr sz="1200" b="1" i="0" dirty="0">
              <a:solidFill>
                <a:srgbClr val="1F4E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碳纳米管薄膜热声扬声器：定向听感强烈，令人印象深刻</a:t>
            </a:r>
            <a:r>
              <a:rPr sz="120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sz="120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（这个原理的落地尚处在初级阶段，在淘宝上看到类似的整机成品在</a:t>
            </a:r>
            <a:r>
              <a:rPr lang="en-US" altLang="zh-CN" sz="120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2500</a:t>
            </a:r>
            <a:r>
              <a:rPr lang="zh-CN" altLang="en-US" sz="120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元左右）</a:t>
            </a:r>
            <a:endParaRPr sz="1200" b="0" i="0" dirty="0">
              <a:solidFill>
                <a:srgbClr val="1B21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换能机制不同：薄膜靠热声效应，本项目靠压电陶瓷的机电振动</a:t>
            </a:r>
            <a:r>
              <a:rPr sz="120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68000" y="1252800"/>
            <a:ext cx="36000" cy="150480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1805" y="3099290"/>
            <a:ext cx="4104000" cy="10620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64800" rIns="100800" bIns="648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 dirty="0" err="1">
                <a:solidFill>
                  <a:srgbClr val="B03A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研究问题</a:t>
            </a:r>
            <a:endParaRPr sz="1200" b="1" i="0" dirty="0">
              <a:solidFill>
                <a:srgbClr val="B03A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能否用常见的压电陶瓷超声换能器，做出一台</a:t>
            </a:r>
            <a:endParaRPr sz="1200" b="0" i="0" dirty="0">
              <a:solidFill>
                <a:srgbClr val="1B21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可播放实时声音、并能追随指定人物的定向音响</a:t>
            </a:r>
            <a:r>
              <a:rPr sz="1200" b="1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endParaRPr sz="1200" b="1" i="0" dirty="0">
              <a:solidFill>
                <a:srgbClr val="1B21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8000" y="3157525"/>
            <a:ext cx="36000" cy="946800"/>
          </a:xfrm>
          <a:prstGeom prst="rect">
            <a:avLst/>
          </a:prstGeom>
          <a:solidFill>
            <a:srgbClr val="B0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000" y="4446000"/>
            <a:ext cx="8207999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dirty="0" err="1">
                <a:solidFill>
                  <a:srgbClr val="8A9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器件参考：Xiao</a:t>
            </a:r>
            <a:r>
              <a:rPr sz="900" b="0" i="0" dirty="0">
                <a:solidFill>
                  <a:srgbClr val="8A9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et al., </a:t>
            </a:r>
            <a:r>
              <a:rPr sz="900" b="0" i="1" dirty="0">
                <a:solidFill>
                  <a:srgbClr val="8A93A3"/>
                </a:solidFill>
                <a:latin typeface="Times New Roman" panose="02020603050405020304"/>
                <a:ea typeface="Times New Roman" panose="02020603050405020304"/>
              </a:rPr>
              <a:t>Flexible, Stretchable, Transparent Carbon Nanotube Thin Film Loudspeakers</a:t>
            </a:r>
            <a:r>
              <a:rPr sz="900" b="0" i="0" dirty="0">
                <a:solidFill>
                  <a:srgbClr val="8A9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Nano Letters, 2008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835" y="1618615"/>
            <a:ext cx="2068830" cy="222186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960" y="1619250"/>
            <a:ext cx="2204720" cy="22212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000" y="583200"/>
            <a:ext cx="46800" cy="309600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3200" y="511200"/>
            <a:ext cx="7991999" cy="439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 dirty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当前版本</a:t>
            </a:r>
            <a:r>
              <a:rPr sz="2000" b="1" i="0" dirty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000" b="1" i="0" dirty="0" err="1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声音</a:t>
            </a:r>
            <a:r>
              <a:rPr lang="zh-CN" sz="2000" b="1" i="0" dirty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可以跟随</a:t>
            </a:r>
            <a:r>
              <a:rPr sz="2000" b="1" i="0" dirty="0" err="1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被选中的人移动</a:t>
            </a:r>
            <a:r>
              <a:rPr lang="zh-CN" sz="2000" b="1" i="0" dirty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，实时播放电脑音频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3200" y="921600"/>
            <a:ext cx="6623999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电脑实时获取声音与摄像头画面，ESP32 驱动超声阵面与二维云台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3999" y="4867200"/>
            <a:ext cx="792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1195200"/>
            <a:ext cx="11520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视觉链</a:t>
            </a:r>
          </a:p>
        </p:txBody>
      </p:sp>
      <p:sp>
        <p:nvSpPr>
          <p:cNvPr id="7" name="Pentagon 6"/>
          <p:cNvSpPr/>
          <p:nvPr/>
        </p:nvSpPr>
        <p:spPr>
          <a:xfrm>
            <a:off x="1655999" y="1173600"/>
            <a:ext cx="1139999" cy="309600"/>
          </a:xfrm>
          <a:prstGeom prst="homePlate">
            <a:avLst/>
          </a:prstGeom>
          <a:solidFill>
            <a:srgbClr val="06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摄像头画面</a:t>
            </a:r>
            <a:endParaRPr sz="950" b="1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2831999" y="1173600"/>
            <a:ext cx="1139999" cy="309600"/>
          </a:xfrm>
          <a:prstGeom prst="homePlate">
            <a:avLst/>
          </a:prstGeom>
          <a:solidFill>
            <a:srgbClr val="06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YOLO 人体检测</a:t>
            </a:r>
          </a:p>
        </p:txBody>
      </p:sp>
      <p:sp>
        <p:nvSpPr>
          <p:cNvPr id="9" name="Pentagon 8"/>
          <p:cNvSpPr/>
          <p:nvPr/>
        </p:nvSpPr>
        <p:spPr>
          <a:xfrm>
            <a:off x="4008000" y="1173600"/>
            <a:ext cx="1139999" cy="309600"/>
          </a:xfrm>
          <a:prstGeom prst="homePlate">
            <a:avLst/>
          </a:prstGeom>
          <a:solidFill>
            <a:srgbClr val="06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ByteTrack</a:t>
            </a:r>
            <a:r>
              <a:rPr sz="95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950" b="1" i="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跟踪</a:t>
            </a:r>
            <a:endParaRPr sz="950" b="1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Pentagon 9"/>
          <p:cNvSpPr/>
          <p:nvPr/>
        </p:nvSpPr>
        <p:spPr>
          <a:xfrm>
            <a:off x="5183999" y="1173600"/>
            <a:ext cx="1139999" cy="309600"/>
          </a:xfrm>
          <a:prstGeom prst="homePlate">
            <a:avLst/>
          </a:prstGeom>
          <a:solidFill>
            <a:srgbClr val="06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Kalman 平滑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9999" y="1173600"/>
            <a:ext cx="1139999" cy="309600"/>
          </a:xfrm>
          <a:prstGeom prst="homePlate">
            <a:avLst/>
          </a:prstGeom>
          <a:solidFill>
            <a:srgbClr val="06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双轴 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35999" y="1173600"/>
            <a:ext cx="1139999" cy="309600"/>
          </a:xfrm>
          <a:prstGeom prst="rect">
            <a:avLst/>
          </a:prstGeom>
          <a:solidFill>
            <a:srgbClr val="06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二维云台转向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000" y="1576800"/>
            <a:ext cx="11520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03A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音频链</a:t>
            </a:r>
          </a:p>
        </p:txBody>
      </p:sp>
      <p:sp>
        <p:nvSpPr>
          <p:cNvPr id="14" name="Pentagon 13"/>
          <p:cNvSpPr/>
          <p:nvPr/>
        </p:nvSpPr>
        <p:spPr>
          <a:xfrm>
            <a:off x="1655999" y="1555200"/>
            <a:ext cx="1139999" cy="309600"/>
          </a:xfrm>
          <a:prstGeom prst="homePlate">
            <a:avLst/>
          </a:prstGeom>
          <a:solidFill>
            <a:srgbClr val="350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麦克风 / 电脑声音</a:t>
            </a:r>
          </a:p>
        </p:txBody>
      </p:sp>
      <p:sp>
        <p:nvSpPr>
          <p:cNvPr id="15" name="Pentagon 14"/>
          <p:cNvSpPr/>
          <p:nvPr/>
        </p:nvSpPr>
        <p:spPr>
          <a:xfrm>
            <a:off x="2831999" y="1555200"/>
            <a:ext cx="1139999" cy="309600"/>
          </a:xfrm>
          <a:prstGeom prst="homePlate">
            <a:avLst/>
          </a:prstGeom>
          <a:solidFill>
            <a:srgbClr val="350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电脑端</a:t>
            </a:r>
            <a:r>
              <a:rPr sz="95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DSP</a:t>
            </a:r>
          </a:p>
        </p:txBody>
      </p:sp>
      <p:sp>
        <p:nvSpPr>
          <p:cNvPr id="16" name="Pentagon 15"/>
          <p:cNvSpPr/>
          <p:nvPr/>
        </p:nvSpPr>
        <p:spPr>
          <a:xfrm>
            <a:off x="4008000" y="1555200"/>
            <a:ext cx="1139999" cy="309600"/>
          </a:xfrm>
          <a:prstGeom prst="homePlate">
            <a:avLst/>
          </a:prstGeom>
          <a:solidFill>
            <a:srgbClr val="350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kHz PCM</a:t>
            </a:r>
          </a:p>
        </p:txBody>
      </p:sp>
      <p:sp>
        <p:nvSpPr>
          <p:cNvPr id="17" name="Pentagon 16"/>
          <p:cNvSpPr/>
          <p:nvPr/>
        </p:nvSpPr>
        <p:spPr>
          <a:xfrm>
            <a:off x="5183999" y="1555200"/>
            <a:ext cx="1139999" cy="309600"/>
          </a:xfrm>
          <a:prstGeom prst="homePlate">
            <a:avLst/>
          </a:prstGeom>
          <a:solidFill>
            <a:srgbClr val="350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USB </a:t>
            </a:r>
            <a:r>
              <a:rPr sz="950" b="1" i="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</a:t>
            </a:r>
            <a:endParaRPr sz="950" b="1" i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Pentagon 17"/>
          <p:cNvSpPr/>
          <p:nvPr/>
        </p:nvSpPr>
        <p:spPr>
          <a:xfrm>
            <a:off x="6359999" y="1555200"/>
            <a:ext cx="1139999" cy="309600"/>
          </a:xfrm>
          <a:prstGeom prst="homePlate">
            <a:avLst/>
          </a:prstGeom>
          <a:solidFill>
            <a:srgbClr val="350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ESP32 调制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35999" y="1555200"/>
            <a:ext cx="1139999" cy="309600"/>
          </a:xfrm>
          <a:prstGeom prst="rect">
            <a:avLst/>
          </a:prstGeom>
          <a:solidFill>
            <a:srgbClr val="350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 阵元发射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2930" y="2725420"/>
            <a:ext cx="3891915" cy="1879600"/>
          </a:xfrm>
          <a:prstGeom prst="roundRect">
            <a:avLst>
              <a:gd name="adj" fmla="val 3000"/>
            </a:avLst>
          </a:prstGeom>
          <a:solidFill>
            <a:srgbClr val="FBFCFE"/>
          </a:solidFill>
          <a:ln w="12700">
            <a:solidFill>
              <a:srgbClr val="A9B4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28800" rIns="108000" bIns="28800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要提前录一段视频：如果没有问题，</a:t>
            </a:r>
            <a:endParaRPr lang="zh-CN" sz="1050" b="0" i="0">
              <a:solidFill>
                <a:srgbClr val="5C65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这里直接给评委老师展示就可以了；如果突发情况就播放视频。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145" y="2342074"/>
            <a:ext cx="3960000" cy="18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整机与现场演示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6000" y="2678939"/>
            <a:ext cx="3780000" cy="1925999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64800" rIns="100800" bIns="648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 sz="1100" b="1" i="0" dirty="0">
              <a:solidFill>
                <a:srgbClr val="1F4E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sz="105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人体目标由操作者点击选定，确认后进入自动云台闭环</a:t>
            </a: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sz="105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音源可选：电脑声音（WASAPI</a:t>
            </a: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05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进程回环</a:t>
            </a: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sz="105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麦克风、立体声混音、固件内置</a:t>
            </a: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Flash PCM。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ESP32 </a:t>
            </a:r>
            <a:r>
              <a:rPr sz="105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</a:t>
            </a: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40 kHz </a:t>
            </a:r>
            <a:r>
              <a:rPr sz="105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载波与包络调制，驱动</a:t>
            </a: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12 </a:t>
            </a:r>
            <a:r>
              <a:rPr sz="105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路功率级</a:t>
            </a: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sz="105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当前依靠机械云台改变阵面法向</a:t>
            </a:r>
            <a:r>
              <a:rPr lang="zh-CN"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6000" y="2678755"/>
            <a:ext cx="36000" cy="1810799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000" y="583200"/>
            <a:ext cx="46800" cy="309600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3200" y="511200"/>
            <a:ext cx="7991999" cy="439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为了验证原理可行性，我们做了</a:t>
            </a:r>
            <a:r>
              <a:rPr lang="en-US" altLang="zh-CN" sz="200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3*4</a:t>
            </a:r>
            <a:r>
              <a:rPr lang="zh-CN" altLang="en-US" sz="200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的初版原型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3999" y="4867200"/>
            <a:ext cx="792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000" y="1324740"/>
            <a:ext cx="4104000" cy="9000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64800" rIns="100800" bIns="648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初版</a:t>
            </a: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12 </a:t>
            </a:r>
            <a:r>
              <a:rPr sz="105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只换能器能够播放声音</a:t>
            </a: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但听起来和蚊子声音差不多。</a:t>
            </a:r>
            <a:endParaRPr sz="1050" b="0" i="0" dirty="0">
              <a:solidFill>
                <a:srgbClr val="1B21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并且偏离轴线仍可听见</a:t>
            </a: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105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说明声束远不够窄</a:t>
            </a: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68000" y="1382340"/>
            <a:ext cx="36000" cy="78480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68000" y="2532745"/>
            <a:ext cx="4104000" cy="10980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64800" rIns="100800" bIns="648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TC4428 </a:t>
            </a:r>
            <a:r>
              <a:rPr sz="105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两个输出脚在</a:t>
            </a: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0–12 V </a:t>
            </a:r>
            <a:r>
              <a:rPr sz="105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之间互补切换</a:t>
            </a: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换能器两端理想差分波形约为</a:t>
            </a:r>
            <a:r>
              <a:rPr sz="1050" b="1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±12 </a:t>
            </a:r>
            <a:r>
              <a:rPr sz="1050" b="1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V，即</a:t>
            </a:r>
            <a:r>
              <a:rPr sz="1050" b="1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24 </a:t>
            </a:r>
            <a:r>
              <a:rPr sz="1050" b="1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Vpp</a:t>
            </a:r>
            <a:r>
              <a:rPr sz="1050" b="1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000" b="0" i="0" dirty="0">
              <a:solidFill>
                <a:srgbClr val="5C65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8000" y="2590345"/>
            <a:ext cx="36000" cy="982800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4195" y="3882235"/>
            <a:ext cx="4104000" cy="9000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64800" rIns="100800" bIns="648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这一步验证了载波、功率驱动和基本包络链路</a:t>
            </a: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</a:t>
            </a:r>
            <a:r>
              <a:rPr lang="zh-CN" sz="1050" b="1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效果远远不达理论预期</a:t>
            </a:r>
            <a:r>
              <a:rPr sz="1050" b="1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000" y="3939835"/>
            <a:ext cx="36000" cy="784800"/>
          </a:xfrm>
          <a:prstGeom prst="rect">
            <a:avLst/>
          </a:prstGeom>
          <a:solidFill>
            <a:srgbClr val="B0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60000" y="1195200"/>
            <a:ext cx="3816000" cy="18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原型实物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0" y="2952000"/>
            <a:ext cx="3816000" cy="18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驱动波形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715" y="1432560"/>
            <a:ext cx="2842895" cy="145986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715" y="3157855"/>
            <a:ext cx="2856865" cy="16789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000" y="583200"/>
            <a:ext cx="46800" cy="309600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3200" y="511200"/>
            <a:ext cx="7991999" cy="439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困难一：用软件调制提高可听输出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3200" y="921600"/>
            <a:ext cx="6623999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可听声来自超声包络的二阶非线性，包络的幅度与调制度直接决定响度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3999" y="4867200"/>
            <a:ext cx="792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000" y="1195200"/>
            <a:ext cx="8207999" cy="403200"/>
          </a:xfrm>
          <a:prstGeom prst="roundRect">
            <a:avLst>
              <a:gd name="adj" fmla="val 10000"/>
            </a:avLst>
          </a:prstGeom>
          <a:solidFill>
            <a:srgbClr val="EF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000" y="1238400"/>
            <a:ext cx="7955999" cy="316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50" b="1" i="0" dirty="0">
                <a:solidFill>
                  <a:srgbClr val="6A3D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物理依据（</a:t>
            </a:r>
            <a:r>
              <a:rPr lang="en-US" sz="1050" b="1" i="0" dirty="0" err="1">
                <a:solidFill>
                  <a:srgbClr val="6A3D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Berktay</a:t>
            </a:r>
            <a:r>
              <a:rPr lang="en-US" sz="1050" b="1" i="0" dirty="0">
                <a:solidFill>
                  <a:srgbClr val="6A3D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50" b="1" i="0" dirty="0" err="1">
                <a:solidFill>
                  <a:srgbClr val="6A3D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远场近似</a:t>
            </a:r>
            <a:r>
              <a:rPr lang="zh-CN" altLang="en-US" sz="1050" b="1" i="0" dirty="0">
                <a:solidFill>
                  <a:srgbClr val="6A3D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zh-CN" altLang="en-US" sz="1200" b="0" i="1" dirty="0">
                <a:solidFill>
                  <a:srgbClr val="1B2130"/>
                </a:solidFill>
                <a:latin typeface="Times New Roman" panose="02020603050405020304"/>
                <a:ea typeface="Times New Roman" panose="02020603050405020304"/>
              </a:rPr>
              <a:t>  </a:t>
            </a:r>
            <a:r>
              <a:rPr lang="en-US" sz="1200" b="0" i="1" dirty="0" err="1">
                <a:solidFill>
                  <a:srgbClr val="1B2130"/>
                </a:solidFill>
                <a:latin typeface="Times New Roman" panose="02020603050405020304"/>
                <a:ea typeface="Times New Roman" panose="02020603050405020304"/>
              </a:rPr>
              <a:t>p</a:t>
            </a:r>
            <a:r>
              <a:rPr lang="en-US" sz="800" b="0" i="0" dirty="0" err="1">
                <a:solidFill>
                  <a:srgbClr val="1B2130"/>
                </a:solidFill>
                <a:latin typeface="Times New Roman" panose="02020603050405020304"/>
                <a:ea typeface="Times New Roman" panose="02020603050405020304"/>
              </a:rPr>
              <a:t>audio</a:t>
            </a:r>
            <a:r>
              <a:rPr lang="en-US" sz="1200" b="0" i="1" dirty="0">
                <a:solidFill>
                  <a:srgbClr val="1B2130"/>
                </a:solidFill>
                <a:latin typeface="Times New Roman" panose="02020603050405020304"/>
                <a:ea typeface="Times New Roman" panose="02020603050405020304"/>
              </a:rPr>
              <a:t>(t) ∝ d²[E²(t)]/</a:t>
            </a:r>
            <a:r>
              <a:rPr lang="en-US" sz="1200" b="0" i="1">
                <a:solidFill>
                  <a:srgbClr val="1B2130"/>
                </a:solidFill>
                <a:latin typeface="Times New Roman" panose="02020603050405020304"/>
                <a:ea typeface="Times New Roman" panose="02020603050405020304"/>
              </a:rPr>
              <a:t>dt²</a:t>
            </a:r>
            <a:r>
              <a:rPr lang="en-US"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—— </a:t>
            </a:r>
            <a:r>
              <a:rPr lang="zh-CN" altLang="en-US" sz="105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包络</a:t>
            </a:r>
            <a:r>
              <a:rPr lang="zh-CN" altLang="en-US"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E(t) </a:t>
            </a:r>
            <a:r>
              <a:rPr lang="zh-CN" altLang="en-US" sz="105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的平方项决定可听差频</a:t>
            </a:r>
            <a:r>
              <a:rPr lang="zh-CN" altLang="en-US"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050" b="0" i="0" dirty="0">
              <a:solidFill>
                <a:srgbClr val="1B21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8000" y="1663200"/>
            <a:ext cx="2628000" cy="18000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64800" rIns="100800" bIns="648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3×4 原型的可听声明显偏小，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且提高数字增益后改善有限。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说明瓶颈在换能效率与调制方式，不在音量旋钮。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68000" y="1720800"/>
            <a:ext cx="36000" cy="168480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186000" y="1663200"/>
            <a:ext cx="2628000" cy="18000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64800" rIns="100800" bIns="648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 dirty="0">
                <a:solidFill>
                  <a:srgbClr val="B03A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改动（4 项）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sz="105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小信号非线性增强：近零幅度处局部最大</a:t>
            </a: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6 倍。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sz="105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噪声门限，抑制静音段被放大</a:t>
            </a: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sz="105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提高调制度</a:t>
            </a: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40 kHz </a:t>
            </a:r>
            <a:r>
              <a:rPr sz="105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可变占空比</a:t>
            </a: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PWM </a:t>
            </a:r>
            <a:r>
              <a:rPr sz="105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的基波近似正比</a:t>
            </a:r>
            <a:r>
              <a:rPr sz="105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sin(πD)，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sz="1050" b="1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固件改用</a:t>
            </a:r>
            <a:r>
              <a:rPr sz="1050" b="1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 = </a:t>
            </a:r>
            <a:r>
              <a:rPr sz="1050" b="1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asin</a:t>
            </a:r>
            <a:r>
              <a:rPr sz="1050" b="1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(E)/π </a:t>
            </a:r>
            <a:r>
              <a:rPr sz="1050" b="1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映射包络</a:t>
            </a:r>
            <a:r>
              <a:rPr sz="1050" b="1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6000" y="1720800"/>
            <a:ext cx="36000" cy="1684800"/>
          </a:xfrm>
          <a:prstGeom prst="rect">
            <a:avLst/>
          </a:prstGeom>
          <a:solidFill>
            <a:srgbClr val="B0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03999" y="1663200"/>
            <a:ext cx="2772000" cy="18000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64800" rIns="100800" bIns="648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A3D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必须区分的两件事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数字信号增益 ≠ 声学声压增益。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电脑端提高的是样值幅度；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真正决定听感的是换能器端电压、阵元数与包络形状。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F7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团队报告的 3×4 改进后提高约 5–10 dB，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只有在测量条件齐全时才能作为正式实验结果。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03999" y="1720800"/>
            <a:ext cx="36000" cy="1684800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68000" y="3542400"/>
            <a:ext cx="4680000" cy="792000"/>
          </a:xfrm>
          <a:prstGeom prst="roundRect">
            <a:avLst>
              <a:gd name="adj" fmla="val 3000"/>
            </a:avLst>
          </a:prstGeom>
          <a:solidFill>
            <a:srgbClr val="FBFCFE"/>
          </a:solidFill>
          <a:ln w="12700">
            <a:solidFill>
              <a:srgbClr val="A9B4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28800" rIns="108000" bIns="28800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[待团队提供：同音源、同位置、同设备下
改动前后的相对声级对照图]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6000" y="3542400"/>
            <a:ext cx="2951999" cy="79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dirty="0" err="1">
                <a:solidFill>
                  <a:srgbClr val="350D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文献支撑：</a:t>
            </a:r>
            <a:r>
              <a:rPr sz="100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San</a:t>
            </a:r>
            <a:r>
              <a:rPr sz="100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Martín </a:t>
            </a:r>
            <a:r>
              <a:rPr sz="1000" b="0" i="0" dirty="0" err="1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等（Applied</a:t>
            </a:r>
            <a:r>
              <a:rPr sz="1000" b="0" i="0" dirty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Sciences, 2020）验证调制度、响度与失真的权衡关系。</a:t>
            </a:r>
            <a:endParaRPr lang="zh-CN" altLang="en-US" sz="1000" b="0" i="0" dirty="0">
              <a:solidFill>
                <a:srgbClr val="1B21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50" b="0" i="0" dirty="0">
                <a:solidFill>
                  <a:srgbClr val="8A9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该文献支持“提高调制度会改变响度与失真”，并不支持“本项目必然提升 </a:t>
            </a:r>
            <a:r>
              <a:rPr lang="en-US" altLang="zh-CN" sz="950" b="0" i="0" dirty="0">
                <a:solidFill>
                  <a:srgbClr val="8A9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5–10 dB”</a:t>
            </a:r>
            <a:r>
              <a:rPr lang="zh-CN" altLang="en-US" sz="950" b="0" i="0" dirty="0">
                <a:solidFill>
                  <a:srgbClr val="8A9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000" y="583200"/>
            <a:ext cx="46800" cy="309600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3200" y="511200"/>
            <a:ext cx="7991999" cy="439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困难二：120 阵元的分路驱动与逐路谐振匹配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3200" y="921600"/>
            <a:ext cx="6623999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 只换能器分成 12 路、每路 10 只；单相位扇出后逐路配置匹配网络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3999" y="4867200"/>
            <a:ext cx="792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1195200"/>
            <a:ext cx="3456000" cy="1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驱动与分组拓扑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8000" y="1393200"/>
            <a:ext cx="846000" cy="342000"/>
          </a:xfrm>
          <a:prstGeom prst="roundRect">
            <a:avLst>
              <a:gd name="adj" fmla="val 12000"/>
            </a:avLst>
          </a:prstGeom>
          <a:solidFill>
            <a:srgbClr val="06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9600" y="1407600"/>
            <a:ext cx="802800" cy="31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GPIO4
单相位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324800" y="1508400"/>
            <a:ext cx="158400" cy="108000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494000" y="1393200"/>
            <a:ext cx="990000" cy="342000"/>
          </a:xfrm>
          <a:prstGeom prst="roundRect">
            <a:avLst>
              <a:gd name="adj" fmla="val 12000"/>
            </a:avLst>
          </a:prstGeom>
          <a:solidFill>
            <a:srgbClr val="06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15600" y="1407600"/>
            <a:ext cx="946800" cy="31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SN74HC125
12 路扇出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94800" y="1508400"/>
            <a:ext cx="158400" cy="108000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520000" y="1393200"/>
            <a:ext cx="936000" cy="342000"/>
          </a:xfrm>
          <a:prstGeom prst="roundRect">
            <a:avLst>
              <a:gd name="adj" fmla="val 12000"/>
            </a:avLst>
          </a:prstGeom>
          <a:solidFill>
            <a:srgbClr val="06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41600" y="1407600"/>
            <a:ext cx="892800" cy="31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TC4428 ×12
功率驱动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000" y="1832400"/>
            <a:ext cx="540000" cy="244800"/>
          </a:xfrm>
          <a:prstGeom prst="roundRect">
            <a:avLst>
              <a:gd name="adj" fmla="val 14000"/>
            </a:avLst>
          </a:prstGeom>
          <a:solidFill>
            <a:srgbClr val="EFF2F9"/>
          </a:solidFill>
          <a:ln w="9525">
            <a:solidFill>
              <a:srgbClr val="D5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2400" y="1843200"/>
            <a:ext cx="511200" cy="22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 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200" y="1832400"/>
            <a:ext cx="540000" cy="244800"/>
          </a:xfrm>
          <a:prstGeom prst="roundRect">
            <a:avLst>
              <a:gd name="adj" fmla="val 14000"/>
            </a:avLst>
          </a:prstGeom>
          <a:solidFill>
            <a:srgbClr val="EFF2F9"/>
          </a:solidFill>
          <a:ln w="9525">
            <a:solidFill>
              <a:srgbClr val="D5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5600" y="1843200"/>
            <a:ext cx="511200" cy="22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 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34400" y="1832400"/>
            <a:ext cx="540000" cy="244800"/>
          </a:xfrm>
          <a:prstGeom prst="roundRect">
            <a:avLst>
              <a:gd name="adj" fmla="val 14000"/>
            </a:avLst>
          </a:prstGeom>
          <a:solidFill>
            <a:srgbClr val="EFF2F9"/>
          </a:solidFill>
          <a:ln w="9525">
            <a:solidFill>
              <a:srgbClr val="D5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8800" y="1843200"/>
            <a:ext cx="511200" cy="22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 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17600" y="1832400"/>
            <a:ext cx="540000" cy="244800"/>
          </a:xfrm>
          <a:prstGeom prst="roundRect">
            <a:avLst>
              <a:gd name="adj" fmla="val 14000"/>
            </a:avLst>
          </a:prstGeom>
          <a:solidFill>
            <a:srgbClr val="EFF2F9"/>
          </a:solidFill>
          <a:ln w="9525">
            <a:solidFill>
              <a:srgbClr val="D5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232000" y="1843200"/>
            <a:ext cx="511200" cy="22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 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00800" y="1832400"/>
            <a:ext cx="540000" cy="244800"/>
          </a:xfrm>
          <a:prstGeom prst="roundRect">
            <a:avLst>
              <a:gd name="adj" fmla="val 14000"/>
            </a:avLst>
          </a:prstGeom>
          <a:solidFill>
            <a:srgbClr val="EFF2F9"/>
          </a:solidFill>
          <a:ln w="9525">
            <a:solidFill>
              <a:srgbClr val="D5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15200" y="1843200"/>
            <a:ext cx="511200" cy="22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 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4000" y="1832400"/>
            <a:ext cx="540000" cy="244800"/>
          </a:xfrm>
          <a:prstGeom prst="roundRect">
            <a:avLst>
              <a:gd name="adj" fmla="val 14000"/>
            </a:avLst>
          </a:prstGeom>
          <a:solidFill>
            <a:srgbClr val="EFF2F9"/>
          </a:solidFill>
          <a:ln w="9525">
            <a:solidFill>
              <a:srgbClr val="D5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98400" y="1843200"/>
            <a:ext cx="511200" cy="22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 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只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8000" y="2127600"/>
            <a:ext cx="540000" cy="244800"/>
          </a:xfrm>
          <a:prstGeom prst="roundRect">
            <a:avLst>
              <a:gd name="adj" fmla="val 14000"/>
            </a:avLst>
          </a:prstGeom>
          <a:solidFill>
            <a:srgbClr val="EFF2F9"/>
          </a:solidFill>
          <a:ln w="9525">
            <a:solidFill>
              <a:srgbClr val="D5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2400" y="2138400"/>
            <a:ext cx="511200" cy="22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 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200" y="2127600"/>
            <a:ext cx="540000" cy="244800"/>
          </a:xfrm>
          <a:prstGeom prst="roundRect">
            <a:avLst>
              <a:gd name="adj" fmla="val 14000"/>
            </a:avLst>
          </a:prstGeom>
          <a:solidFill>
            <a:srgbClr val="EFF2F9"/>
          </a:solidFill>
          <a:ln w="9525">
            <a:solidFill>
              <a:srgbClr val="D5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65600" y="2138400"/>
            <a:ext cx="511200" cy="22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 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只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34400" y="2127600"/>
            <a:ext cx="540000" cy="244800"/>
          </a:xfrm>
          <a:prstGeom prst="roundRect">
            <a:avLst>
              <a:gd name="adj" fmla="val 14000"/>
            </a:avLst>
          </a:prstGeom>
          <a:solidFill>
            <a:srgbClr val="EFF2F9"/>
          </a:solidFill>
          <a:ln w="9525">
            <a:solidFill>
              <a:srgbClr val="D5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648800" y="2138400"/>
            <a:ext cx="511200" cy="22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 9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只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17600" y="2127600"/>
            <a:ext cx="540000" cy="244800"/>
          </a:xfrm>
          <a:prstGeom prst="roundRect">
            <a:avLst>
              <a:gd name="adj" fmla="val 14000"/>
            </a:avLst>
          </a:prstGeom>
          <a:solidFill>
            <a:srgbClr val="EFF2F9"/>
          </a:solidFill>
          <a:ln w="9525">
            <a:solidFill>
              <a:srgbClr val="D5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32000" y="2138400"/>
            <a:ext cx="511200" cy="22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 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只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00800" y="2127600"/>
            <a:ext cx="540000" cy="244800"/>
          </a:xfrm>
          <a:prstGeom prst="roundRect">
            <a:avLst>
              <a:gd name="adj" fmla="val 14000"/>
            </a:avLst>
          </a:prstGeom>
          <a:solidFill>
            <a:srgbClr val="EFF2F9"/>
          </a:solidFill>
          <a:ln w="9525">
            <a:solidFill>
              <a:srgbClr val="D5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15200" y="2138400"/>
            <a:ext cx="511200" cy="22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 11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只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84000" y="2127600"/>
            <a:ext cx="540000" cy="244800"/>
          </a:xfrm>
          <a:prstGeom prst="roundRect">
            <a:avLst>
              <a:gd name="adj" fmla="val 14000"/>
            </a:avLst>
          </a:prstGeom>
          <a:solidFill>
            <a:srgbClr val="EFF2F9"/>
          </a:solidFill>
          <a:ln w="9525">
            <a:solidFill>
              <a:srgbClr val="D5D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98400" y="2138400"/>
            <a:ext cx="511200" cy="22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 12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000" y="2451600"/>
            <a:ext cx="352800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 = 12 路 × 10 只（TCT40-16T）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31999" y="1195200"/>
            <a:ext cx="4644000" cy="18540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64800" rIns="100800" bIns="648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7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已完成：逐路谐振与阻抗匹配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各组在 40 kHz 附近测复阻抗  Z(f) = R(f) + jX(f)，按各路差异分别配置谐振电感与补偿 / 阻尼元件。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匹配的目标是四者平衡：换能器端电压、声输出、驱动器电流、温升。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阻尼电阻的作用是抑制振铃、限制电流，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B03A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不能笼统称为“提高电压的元件”。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元件连接位置以实物照片为准，本页不凭空画串 / 并联拓扑。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31999" y="1252800"/>
            <a:ext cx="36000" cy="1738800"/>
          </a:xfrm>
          <a:prstGeom prst="rect">
            <a:avLst/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031999" y="3085200"/>
            <a:ext cx="2268000" cy="792000"/>
          </a:xfrm>
          <a:prstGeom prst="roundRect">
            <a:avLst>
              <a:gd name="adj" fmla="val 3000"/>
            </a:avLst>
          </a:prstGeom>
          <a:solidFill>
            <a:srgbClr val="FBFCFE"/>
          </a:solidFill>
          <a:ln w="12700">
            <a:solidFill>
              <a:srgbClr val="A9B4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28800" rIns="108000" bIns="28800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[待团队提供：12 路元件值
（L / C / R）]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8000" y="3085200"/>
            <a:ext cx="2268000" cy="792000"/>
          </a:xfrm>
          <a:prstGeom prst="roundRect">
            <a:avLst>
              <a:gd name="adj" fmla="val 3000"/>
            </a:avLst>
          </a:prstGeom>
          <a:solidFill>
            <a:srgbClr val="FBFCFE"/>
          </a:solidFill>
          <a:ln w="12700">
            <a:solidFill>
              <a:srgbClr val="A9B4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28800" rIns="108000" bIns="28800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[待团队提供：2–3 路代表性
阻抗曲线与匹配前后端电压]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8000" y="4158000"/>
            <a:ext cx="8207999" cy="676800"/>
          </a:xfrm>
          <a:prstGeom prst="roundRect">
            <a:avLst>
              <a:gd name="adj" fmla="val 5000"/>
            </a:avLst>
          </a:prstGeom>
          <a:solidFill>
            <a:srgbClr val="FDF2F6"/>
          </a:solidFill>
          <a:ln w="12700">
            <a:solidFill>
              <a:srgbClr val="B0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4000" y="4204800"/>
            <a:ext cx="7955999" cy="58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B03A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边界提醒（评委很可能会问）：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音乐在 40 kHz 两侧产生 ± f</a:t>
            </a:r>
            <a:r>
              <a:rPr sz="7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audio</a:t>
            </a:r>
            <a:r>
              <a:rPr sz="100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边带。只在 40 kHz 单点取得很高端电压，可能同时把边带压窄、影响音质——</a:t>
            </a:r>
            <a:r>
              <a:rPr sz="1000" b="1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因此应补 39–41 kHz 或更宽频段的扫频曲线，而不是只给一个匹配点。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000" y="583200"/>
            <a:ext cx="46800" cy="309600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3200" y="511200"/>
            <a:ext cx="7991999" cy="439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困难三：谐波、音色与结构漏声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3200" y="921600"/>
            <a:ext cx="6623999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同一台机器上有三条相互独立的失真来源，必须分开测、分开改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3999" y="4867200"/>
            <a:ext cx="792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000" y="1195200"/>
            <a:ext cx="2628000" cy="22140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64800" rIns="100800" bIns="648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A3D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谐波线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录纯音后发现某些高次谐波明显。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 DSB-AM 的 E² 含音频平方项，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天然生成谐波失真。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使理想模型中的 E² 对音频近似线性。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但压电换能器带宽有限，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B03A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不能保证 SRAM 在真实机器上一定更优。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68000" y="1252800"/>
            <a:ext cx="36000" cy="2098800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86000" y="1195200"/>
            <a:ext cx="2628000" cy="22140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64800" rIns="100800" bIns="648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音频处理线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电脑端当前有：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约 250 Hz 高通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3 kHz 低通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慢速电平控制、压缩、限幅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固件可切换：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DSB ↔ SRAM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STANDARD ↔ BOOST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RAW ↔ 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6000" y="1252800"/>
            <a:ext cx="36000" cy="209880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03999" y="1195200"/>
            <a:ext cx="2772000" cy="22140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64800" rIns="100800" bIns="648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B03A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结构线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阵面与带孔 PLA 板之间留约 2 mm 间隙，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并放入少量海绵，用于隔离外壳振动。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近圆形有效口径有助于方向图更对称。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但“近圆形”不等于消除了相位叠加，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表述上不要夸大。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03999" y="1252800"/>
            <a:ext cx="36000" cy="2098800"/>
          </a:xfrm>
          <a:prstGeom prst="rect">
            <a:avLst/>
          </a:prstGeom>
          <a:solidFill>
            <a:srgbClr val="B0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8000" y="3661200"/>
            <a:ext cx="3960000" cy="900000"/>
          </a:xfrm>
          <a:prstGeom prst="roundRect">
            <a:avLst>
              <a:gd name="adj" fmla="val 3000"/>
            </a:avLst>
          </a:prstGeom>
          <a:solidFill>
            <a:srgbClr val="FBFCFE"/>
          </a:solidFill>
          <a:ln w="12700">
            <a:solidFill>
              <a:srgbClr val="A9B4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28800" rIns="108000" bIns="28800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[待团队提供：录制纯音的频谱图
（标出基波与高次谐波）]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6000" y="3681520"/>
            <a:ext cx="3311999" cy="900000"/>
          </a:xfrm>
          <a:prstGeom prst="roundRect">
            <a:avLst>
              <a:gd name="adj" fmla="val 3000"/>
            </a:avLst>
          </a:prstGeom>
          <a:solidFill>
            <a:srgbClr val="FBFCFE"/>
          </a:solidFill>
          <a:ln w="12700">
            <a:solidFill>
              <a:srgbClr val="A9B4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28800" rIns="108000" bIns="28800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[待团队提供：隔振前后
同位置录音 / 角度曲线]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000" y="4831200"/>
            <a:ext cx="7055999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表述纪律：现有高低通不是“根据纯音 CSV 构造的逐频谐波抵消器”；若另有针对性调制代码，需补源码与前后对照图。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000" y="583200"/>
            <a:ext cx="46800" cy="309600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3200" y="511200"/>
            <a:ext cx="7991999" cy="439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困难四：目标移动、检测框抖动与近距离失效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3200" y="921600"/>
            <a:ext cx="6623999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从像素误差到云台速度指令的闭环，以及近距离时瞄准点为什么要上移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3999" y="4867200"/>
            <a:ext cx="792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</a:p>
        </p:txBody>
      </p:sp>
      <p:sp>
        <p:nvSpPr>
          <p:cNvPr id="6" name="Pentagon 5"/>
          <p:cNvSpPr/>
          <p:nvPr/>
        </p:nvSpPr>
        <p:spPr>
          <a:xfrm>
            <a:off x="468000" y="1195200"/>
            <a:ext cx="1337999" cy="309600"/>
          </a:xfrm>
          <a:prstGeom prst="homePlate">
            <a:avLst/>
          </a:prstGeom>
          <a:solidFill>
            <a:srgbClr val="06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YOLO 人体检测</a:t>
            </a:r>
          </a:p>
        </p:txBody>
      </p:sp>
      <p:sp>
        <p:nvSpPr>
          <p:cNvPr id="7" name="Pentagon 6"/>
          <p:cNvSpPr/>
          <p:nvPr/>
        </p:nvSpPr>
        <p:spPr>
          <a:xfrm>
            <a:off x="1841999" y="1195200"/>
            <a:ext cx="1337999" cy="309600"/>
          </a:xfrm>
          <a:prstGeom prst="homePlate">
            <a:avLst/>
          </a:prstGeom>
          <a:solidFill>
            <a:srgbClr val="06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ByteTrack 维持目标 ID</a:t>
            </a:r>
          </a:p>
        </p:txBody>
      </p:sp>
      <p:sp>
        <p:nvSpPr>
          <p:cNvPr id="8" name="Pentagon 7"/>
          <p:cNvSpPr/>
          <p:nvPr/>
        </p:nvSpPr>
        <p:spPr>
          <a:xfrm>
            <a:off x="3216000" y="1195200"/>
            <a:ext cx="1337999" cy="309600"/>
          </a:xfrm>
          <a:prstGeom prst="homePlate">
            <a:avLst/>
          </a:prstGeom>
          <a:solidFill>
            <a:srgbClr val="06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每轨迹 Kalman 平滑</a:t>
            </a:r>
          </a:p>
        </p:txBody>
      </p:sp>
      <p:sp>
        <p:nvSpPr>
          <p:cNvPr id="9" name="Pentagon 8"/>
          <p:cNvSpPr/>
          <p:nvPr/>
        </p:nvSpPr>
        <p:spPr>
          <a:xfrm>
            <a:off x="4590000" y="1195200"/>
            <a:ext cx="1337999" cy="309600"/>
          </a:xfrm>
          <a:prstGeom prst="homePlate">
            <a:avLst/>
          </a:prstGeom>
          <a:solidFill>
            <a:srgbClr val="06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像素误差 → 角度误差</a:t>
            </a:r>
          </a:p>
        </p:txBody>
      </p:sp>
      <p:sp>
        <p:nvSpPr>
          <p:cNvPr id="10" name="Pentagon 9"/>
          <p:cNvSpPr/>
          <p:nvPr/>
        </p:nvSpPr>
        <p:spPr>
          <a:xfrm>
            <a:off x="5964000" y="1195200"/>
            <a:ext cx="1337999" cy="309600"/>
          </a:xfrm>
          <a:prstGeom prst="homePlate">
            <a:avLst/>
          </a:prstGeom>
          <a:solidFill>
            <a:srgbClr val="06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双轴 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38000" y="1195200"/>
            <a:ext cx="1337999" cy="309600"/>
          </a:xfrm>
          <a:prstGeom prst="rect">
            <a:avLst/>
          </a:prstGeom>
          <a:solidFill>
            <a:srgbClr val="06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云台速度指令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000" y="1598400"/>
            <a:ext cx="4031999" cy="1565999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64800" rIns="100800" bIns="648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B03A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近距离策略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当人体框高度超过画面约 90%、触及边缘，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并连续满足进入条件后：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瞄准点从框中心移到框顶下方约 30% 框高处，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等价于  0.6 × 框中心 + 0.4 × 框顶。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进入与退出都有连续帧确认与迟滞，避免来回跳动。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000" y="1656000"/>
            <a:ext cx="36000" cy="1450799"/>
          </a:xfrm>
          <a:prstGeom prst="rect">
            <a:avLst/>
          </a:prstGeom>
          <a:solidFill>
            <a:srgbClr val="B0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24000" y="1598400"/>
            <a:ext cx="3851999" cy="1565999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64800" rIns="100800" bIns="648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A3D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为什么需要它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人靠近摄像头后，画面里只剩上半身甚至头部，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框中心的几何含义发生跳变，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继续瞄框中心会把声束打到胸口以下。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F7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上移瞄准点是工程折中，不是人脸识别。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本系统只做人体检测与轨迹 ID，不做身份识别。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24000" y="1656000"/>
            <a:ext cx="36000" cy="1450799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68000" y="3254399"/>
            <a:ext cx="4031999" cy="1206000"/>
          </a:xfrm>
          <a:prstGeom prst="roundRect">
            <a:avLst>
              <a:gd name="adj" fmla="val 3000"/>
            </a:avLst>
          </a:prstGeom>
          <a:solidFill>
            <a:srgbClr val="FBFCFE"/>
          </a:solidFill>
          <a:ln w="12700">
            <a:solidFill>
              <a:srgbClr val="A9B4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28800" rIns="108000" bIns="28800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[待团队提供：真实运行截图
（叠加检测框、平滑目标点、画面中心）]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4000" y="3254399"/>
            <a:ext cx="3851999" cy="1206000"/>
          </a:xfrm>
          <a:prstGeom prst="roundRect">
            <a:avLst>
              <a:gd name="adj" fmla="val 3000"/>
            </a:avLst>
          </a:prstGeom>
          <a:solidFill>
            <a:srgbClr val="FBFCFE"/>
          </a:solidFill>
          <a:ln w="12700">
            <a:solidFill>
              <a:srgbClr val="A9B4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28800" rIns="108000" bIns="28800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[待团队提供：跟踪误差随时间曲线
或近距离前后两帧对比]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000" y="4831200"/>
            <a:ext cx="7055999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表述纪律：当前配置 Kd = 0，答辩中称“双轴 PI”，不要声称已实现 D 项参与控制。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000" y="583200"/>
            <a:ext cx="46800" cy="309600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3200" y="511200"/>
            <a:ext cx="7991999" cy="439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困难五：电脑声音与云台控制共用一根 USB 串口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3200" y="921600"/>
            <a:ext cx="6623999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kHz 实时音频、设备状态与云台角度复用同一条 460800 baud 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3999" y="4867200"/>
            <a:ext cx="792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</a:p>
        </p:txBody>
      </p:sp>
      <p:sp>
        <p:nvSpPr>
          <p:cNvPr id="6" name="Pentagon 5"/>
          <p:cNvSpPr/>
          <p:nvPr/>
        </p:nvSpPr>
        <p:spPr>
          <a:xfrm>
            <a:off x="468000" y="1195200"/>
            <a:ext cx="1337999" cy="309600"/>
          </a:xfrm>
          <a:prstGeom prst="homePlate">
            <a:avLst/>
          </a:prstGeom>
          <a:solidFill>
            <a:srgbClr val="350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WASAPI / 麦克风采集</a:t>
            </a:r>
          </a:p>
        </p:txBody>
      </p:sp>
      <p:sp>
        <p:nvSpPr>
          <p:cNvPr id="7" name="Pentagon 6"/>
          <p:cNvSpPr/>
          <p:nvPr/>
        </p:nvSpPr>
        <p:spPr>
          <a:xfrm>
            <a:off x="1841999" y="1195200"/>
            <a:ext cx="1337999" cy="309600"/>
          </a:xfrm>
          <a:prstGeom prst="homePlate">
            <a:avLst/>
          </a:prstGeom>
          <a:solidFill>
            <a:srgbClr val="350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电脑端预处理</a:t>
            </a:r>
          </a:p>
        </p:txBody>
      </p:sp>
      <p:sp>
        <p:nvSpPr>
          <p:cNvPr id="8" name="Pentagon 7"/>
          <p:cNvSpPr/>
          <p:nvPr/>
        </p:nvSpPr>
        <p:spPr>
          <a:xfrm>
            <a:off x="3216000" y="1195200"/>
            <a:ext cx="1337999" cy="309600"/>
          </a:xfrm>
          <a:prstGeom prst="homePlate">
            <a:avLst/>
          </a:prstGeom>
          <a:solidFill>
            <a:srgbClr val="350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kHz · 8-bit · 单声道</a:t>
            </a:r>
          </a:p>
        </p:txBody>
      </p:sp>
      <p:sp>
        <p:nvSpPr>
          <p:cNvPr id="9" name="Pentagon 8"/>
          <p:cNvSpPr/>
          <p:nvPr/>
        </p:nvSpPr>
        <p:spPr>
          <a:xfrm>
            <a:off x="4590000" y="1195200"/>
            <a:ext cx="1337999" cy="309600"/>
          </a:xfrm>
          <a:prstGeom prst="homePlate">
            <a:avLst/>
          </a:prstGeom>
          <a:solidFill>
            <a:srgbClr val="350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 ms / 160 样本</a:t>
            </a:r>
          </a:p>
        </p:txBody>
      </p:sp>
      <p:sp>
        <p:nvSpPr>
          <p:cNvPr id="10" name="Pentagon 9"/>
          <p:cNvSpPr/>
          <p:nvPr/>
        </p:nvSpPr>
        <p:spPr>
          <a:xfrm>
            <a:off x="5964000" y="1195200"/>
            <a:ext cx="1337999" cy="309600"/>
          </a:xfrm>
          <a:prstGeom prst="homePlate">
            <a:avLst/>
          </a:prstGeom>
          <a:solidFill>
            <a:srgbClr val="350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 120 ms 预缓冲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38000" y="1195200"/>
            <a:ext cx="1337999" cy="309600"/>
          </a:xfrm>
          <a:prstGeom prst="rect">
            <a:avLst/>
          </a:prstGeom>
          <a:solidFill>
            <a:srgbClr val="350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 kHz PWM 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1612800"/>
            <a:ext cx="2160000" cy="15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自定义二进制帧结构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8000" y="1792800"/>
            <a:ext cx="691200" cy="280800"/>
          </a:xfrm>
          <a:prstGeom prst="rect">
            <a:avLst/>
          </a:prstGeom>
          <a:solidFill>
            <a:srgbClr val="06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000" y="1800000"/>
            <a:ext cx="691200" cy="26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magic
version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000" y="1792800"/>
            <a:ext cx="655200" cy="280800"/>
          </a:xfrm>
          <a:prstGeom prst="rect">
            <a:avLst/>
          </a:prstGeom>
          <a:solidFill>
            <a:srgbClr val="06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000" y="1800000"/>
            <a:ext cx="655200" cy="26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
flags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1999" y="1792800"/>
            <a:ext cx="727200" cy="280800"/>
          </a:xfrm>
          <a:prstGeom prst="rect">
            <a:avLst/>
          </a:prstGeom>
          <a:solidFill>
            <a:srgbClr val="06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71999" y="1800000"/>
            <a:ext cx="727200" cy="26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payload
length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27999" y="1792800"/>
            <a:ext cx="691200" cy="280800"/>
          </a:xfrm>
          <a:prstGeom prst="rect">
            <a:avLst/>
          </a:prstGeom>
          <a:solidFill>
            <a:srgbClr val="06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27999" y="1800000"/>
            <a:ext cx="691200" cy="26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session
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47999" y="1792800"/>
            <a:ext cx="727200" cy="280800"/>
          </a:xfrm>
          <a:prstGeom prst="rect">
            <a:avLst/>
          </a:prstGeom>
          <a:solidFill>
            <a:srgbClr val="06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47999" y="1800000"/>
            <a:ext cx="727200" cy="26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sequence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03999" y="1792800"/>
            <a:ext cx="727200" cy="280800"/>
          </a:xfrm>
          <a:prstGeom prst="rect">
            <a:avLst/>
          </a:prstGeom>
          <a:solidFill>
            <a:srgbClr val="061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03999" y="1800000"/>
            <a:ext cx="727200" cy="26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sample
index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59999" y="1792800"/>
            <a:ext cx="1519200" cy="280800"/>
          </a:xfrm>
          <a:prstGeom prst="rect">
            <a:avLst/>
          </a:prstGeom>
          <a:solidFill>
            <a:srgbClr val="350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59999" y="1800000"/>
            <a:ext cx="1519200" cy="26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payload
(PCM)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7999" y="1792800"/>
            <a:ext cx="583200" cy="280800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7999" y="1800000"/>
            <a:ext cx="583200" cy="266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crc16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000" y="2088000"/>
            <a:ext cx="8207999" cy="15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整帧经 COBS 编码，并用前后 0x00 定界；CRC16 校验，损坏帧直接丢弃。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8000" y="2246400"/>
            <a:ext cx="2628000" cy="1655999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64800" rIns="100800" bIns="648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可靠控制 vs 实时音频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控制命令（云台角度、静音、状态）等待 ACK。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实时音频帧不 ACK、不重传，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损坏或过期直接丢弃，避免延迟累积。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云台角度、设备状态与音频由同一个串口管理对象复用——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电脑端只有一个对象拥有 COM 口。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8000" y="2304000"/>
            <a:ext cx="36000" cy="1540799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186000" y="2246400"/>
            <a:ext cx="2628000" cy="1655999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64800" rIns="100800" bIns="648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A3D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方案演进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曾考虑文本 JSON 与 gRPC。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最终选二进制串口协议，理由是：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分帧可预测（定长头 + 定界符）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解析开销低，不需要额外运行时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直接适配现有 USB 串口硬件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86000" y="2304000"/>
            <a:ext cx="36000" cy="1540799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903999" y="2246400"/>
            <a:ext cx="2772000" cy="1655999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64800" rIns="100800" bIns="648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B03A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不要把话说满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净音频数据约 8 kB/s，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这条链路并不紧张。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因此不要写“JSON 带宽一定不够”或“gRPC 必须改用网络”——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没有同机对比实验，就不给性能倍数。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协议好坏应结合实际调度抖动与欠载记录评价。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03999" y="2304000"/>
            <a:ext cx="36000" cy="1540799"/>
          </a:xfrm>
          <a:prstGeom prst="rect">
            <a:avLst/>
          </a:prstGeom>
          <a:solidFill>
            <a:srgbClr val="B0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68000" y="3992400"/>
            <a:ext cx="8207999" cy="827999"/>
          </a:xfrm>
          <a:prstGeom prst="roundRect">
            <a:avLst>
              <a:gd name="adj" fmla="val 3000"/>
            </a:avLst>
          </a:prstGeom>
          <a:solidFill>
            <a:srgbClr val="FBFCFE"/>
          </a:solidFill>
          <a:ln w="12700">
            <a:solidFill>
              <a:srgbClr val="A9B4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28800" rIns="108000" bIns="28800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[待团队提供：ESP32 串口状态反馈与连续运行日志
（buffer / underrun / CRC 错误计数）]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000" y="583200"/>
            <a:ext cx="46800" cy="309600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3200" y="511200"/>
            <a:ext cx="7991999" cy="439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实验结果：每个困难是否真的改善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3200" y="921600"/>
            <a:ext cx="6623999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三张主图对应三项改造；正式结论以同条件实测数据为准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3999" y="4867200"/>
            <a:ext cx="792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000" y="1393200"/>
            <a:ext cx="4031999" cy="1764000"/>
          </a:xfrm>
          <a:prstGeom prst="roundRect">
            <a:avLst>
              <a:gd name="adj" fmla="val 3000"/>
            </a:avLst>
          </a:prstGeom>
          <a:solidFill>
            <a:srgbClr val="FBFCFE"/>
          </a:solidFill>
          <a:ln w="12700">
            <a:solidFill>
              <a:srgbClr val="A9B4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28800" rIns="108000" bIns="28800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[待团队提供：图 1 —— 3×4 软件调制前后
同条件可听基波 / 相对声级]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170000"/>
            <a:ext cx="4031999" cy="18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软件调制：核实 5–10 dB 报告值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24000" y="1393200"/>
            <a:ext cx="3851999" cy="1764000"/>
          </a:xfrm>
          <a:prstGeom prst="roundRect">
            <a:avLst>
              <a:gd name="adj" fmla="val 3000"/>
            </a:avLst>
          </a:prstGeom>
          <a:solidFill>
            <a:srgbClr val="FBFCFE"/>
          </a:solidFill>
          <a:ln w="12700">
            <a:solidFill>
              <a:srgbClr val="A9B4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28800" rIns="108000" bIns="28800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[待团队提供：图 2 —— 120 阵元匹配前后
端电压 / 工作电流 / 温升 / 可听声级]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4000" y="1170000"/>
            <a:ext cx="3851999" cy="18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逐路匹配：至少给代表性支路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8000" y="3373200"/>
            <a:ext cx="8207999" cy="1080000"/>
          </a:xfrm>
          <a:prstGeom prst="roundRect">
            <a:avLst>
              <a:gd name="adj" fmla="val 3000"/>
            </a:avLst>
          </a:prstGeom>
          <a:solidFill>
            <a:srgbClr val="FBFCFE"/>
          </a:solidFill>
          <a:ln w="12700">
            <a:solidFill>
              <a:srgbClr val="A9B4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28800" rIns="108000" bIns="28800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[待团队提供：图 3 —— 固定距离下的角度—相对声级曲线（方向图）
或 追踪误差随时间曲线（时间不足时优先方向图，误差曲线放备份页）]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3150000"/>
            <a:ext cx="8207999" cy="18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定向性与闭环精度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000" y="4543200"/>
            <a:ext cx="8207999" cy="475200"/>
          </a:xfrm>
          <a:prstGeom prst="roundRect">
            <a:avLst>
              <a:gd name="adj" fmla="val 7000"/>
            </a:avLst>
          </a:prstGeom>
          <a:solidFill>
            <a:srgbClr val="EF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000" y="4579200"/>
            <a:ext cx="6911999" cy="4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50D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每张图必须写明的条件：</a:t>
            </a:r>
            <a:r>
              <a:rPr sz="100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 · 距离 · 麦克风 / 示波器型号 · 是否关闭自动增益 · 使用的调制档位 · 匹配状态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9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数据纪律：手机分贝 App 只允许作为初步定性观察；dBFS 不能标成 dB SPL。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000" y="583200"/>
            <a:ext cx="46800" cy="309600"/>
          </a:xfrm>
          <a:prstGeom prst="rect">
            <a:avLst/>
          </a:prstGeom>
          <a:solidFill>
            <a:srgbClr val="66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3200" y="511200"/>
            <a:ext cx="7991999" cy="439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3200" y="921600"/>
            <a:ext cx="6623999" cy="22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回答第一页提出的那个问题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3999" y="4867200"/>
            <a:ext cx="792000" cy="19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3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000" y="1195200"/>
            <a:ext cx="8207999" cy="84600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68000" y="1267200"/>
            <a:ext cx="43200" cy="702000"/>
          </a:xfrm>
          <a:prstGeom prst="rect">
            <a:avLst/>
          </a:prstGeom>
          <a:solidFill>
            <a:srgbClr val="1F7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000" y="1274400"/>
            <a:ext cx="7883999" cy="70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F7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</a:t>
            </a:r>
            <a:r>
              <a:rPr sz="120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用常见的压电陶瓷超声换能器，构建了可播放实时音频、可跟随指定人物的 120 阵元定向音响，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并完成了逐路谐振匹配与声学 / 软件迭代。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" y="2113200"/>
            <a:ext cx="2628000" cy="12780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64800" rIns="100800" bIns="648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B03A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边界：转向方式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当前全部阵元同相发射，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靠二维云台改变阵面法向。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不是电子相控阵，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没有距离维度的定点聚焦。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000" y="2170800"/>
            <a:ext cx="36000" cy="1162800"/>
          </a:xfrm>
          <a:prstGeom prst="rect">
            <a:avLst/>
          </a:prstGeom>
          <a:solidFill>
            <a:srgbClr val="B0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186000" y="2113200"/>
            <a:ext cx="2628000" cy="12780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64800" rIns="100800" bIns="648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A3D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边界：结论强度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结论强度以第 9 页数据为准。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未校准的声压、定向角度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与转换效率，不报确定数字。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C65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尚未完成的标定，宁可说“未测”。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6000" y="2170800"/>
            <a:ext cx="36000" cy="1162800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03999" y="2113200"/>
            <a:ext cx="2772000" cy="1278000"/>
          </a:xfrm>
          <a:prstGeom prst="roundRect">
            <a:avLst>
              <a:gd name="adj" fmla="val 45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0800" tIns="64800" rIns="100800" bIns="6480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后续工作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正式方向图测量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频响与 THD 标定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匹配网络的边带优化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12 路匹配数据的完整归档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03999" y="2170800"/>
            <a:ext cx="36000" cy="116280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8800" rIns="50400" bIns="2880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8000" y="3481200"/>
            <a:ext cx="8207999" cy="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61A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回到第一页的问题：</a:t>
            </a:r>
            <a:r>
              <a:rPr sz="1100" b="0" i="0">
                <a:solidFill>
                  <a:srgbClr val="1B213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常见压电陶瓷换能器可以做出定向音响，也可以做到实时播放与人员跟随；代价是阵列规模、逐路匹配工程，以及对物理边界的清醒认识。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1652</Words>
  <Application>Microsoft Office PowerPoint</Application>
  <PresentationFormat>全屏显示(16:9)</PresentationFormat>
  <Paragraphs>287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等线</vt:lpstr>
      <vt:lpstr>等线 Light</vt:lpstr>
      <vt:lpstr>微软雅黑</vt:lpstr>
      <vt:lpstr>Arial</vt:lpstr>
      <vt:lpstr>Calibri</vt:lpstr>
      <vt:lpstr>Segoe UI</vt:lpstr>
      <vt:lpstr>Times New Roman</vt:lpstr>
      <vt:lpstr>Wingdings</vt:lpstr>
      <vt:lpstr>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超声参量阵定向音响 · 7 分钟答辩</dc:title>
  <dc:creator>超声定向音响项目组</dc:creator>
  <cp:lastModifiedBy>烜赫 曹</cp:lastModifiedBy>
  <cp:revision>33</cp:revision>
  <dcterms:created xsi:type="dcterms:W3CDTF">2021-11-10T06:30:00Z</dcterms:created>
  <dcterms:modified xsi:type="dcterms:W3CDTF">2026-09-17T11:48:01Z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01920744D7814C8F93752165663064F5_13</vt:lpwstr>
  </property>
  <property fmtid="{D5CDD505-2E9C-101B-9397-08002B2CF9AE}" pid="3" name="KSOProductBuildVer">
    <vt:lpwstr>2052-12.1.0.28505</vt:lpwstr>
  </property>
</Properties>
</file>