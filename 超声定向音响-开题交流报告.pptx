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bf88a38e24fe1" /><Relationship Type="http://schemas.openxmlformats.org/officeDocument/2006/relationships/extended-properties" Target="/docProps/app.xml" Id="R1ef900f1e9734db5" /><Relationship Type="http://schemas.openxmlformats.org/officeDocument/2006/relationships/officeDocument" Target="/ppt/presentation.xml" Id="R8c9d38ce917444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9d2b0ce14f48d0"/>
  </p:sldMasterIdLst>
  <p:notesMasterIdLst>
    <p:notesMasterId xmlns:r="http://schemas.openxmlformats.org/officeDocument/2006/relationships" r:id="R7bb1e6de67e745d0"/>
  </p:notesMasterIdLst>
  <p:sldIdLst>
    <p:sldId xmlns:r="http://schemas.openxmlformats.org/officeDocument/2006/relationships" id="256" r:id="Re2d39a374a7648d3"/>
    <p:sldId xmlns:r="http://schemas.openxmlformats.org/officeDocument/2006/relationships" id="257" r:id="R81aad3fc01964a2b"/>
    <p:sldId xmlns:r="http://schemas.openxmlformats.org/officeDocument/2006/relationships" id="258" r:id="Rf177d4e152494a7a"/>
    <p:sldId xmlns:r="http://schemas.openxmlformats.org/officeDocument/2006/relationships" id="259" r:id="R90bbfb7b4a034a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1279280ab24dd7" /><Relationship Type="http://schemas.openxmlformats.org/officeDocument/2006/relationships/slideMaster" Target="/ppt/slideMasters/slideMaster1.xml" Id="R849d2b0ce14f48d0" /><Relationship Type="http://schemas.openxmlformats.org/officeDocument/2006/relationships/notesMaster" Target="/ppt/notesMasters/notesMaster1.xml" Id="R7bb1e6de67e745d0" /><Relationship Type="http://schemas.openxmlformats.org/officeDocument/2006/relationships/presProps" Target="/ppt/presProps.xml" Id="R1867a9a8f2014613" /><Relationship Type="http://schemas.openxmlformats.org/officeDocument/2006/relationships/tableStyles" Target="/ppt/tableStyles.xml" Id="R1d8e3581c04a43ff" /><Relationship Type="http://schemas.openxmlformats.org/officeDocument/2006/relationships/slide" Target="/ppt/slides/slide1.xml" Id="Re2d39a374a7648d3" /><Relationship Type="http://schemas.openxmlformats.org/officeDocument/2006/relationships/slide" Target="/ppt/slides/slide2.xml" Id="R81aad3fc01964a2b" /><Relationship Type="http://schemas.openxmlformats.org/officeDocument/2006/relationships/slide" Target="/ppt/slides/slide3.xml" Id="Rf177d4e152494a7a" /><Relationship Type="http://schemas.openxmlformats.org/officeDocument/2006/relationships/slide" Target="/ppt/slides/slide4.xml" Id="R90bbfb7b4a034a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48775fb28a4c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7cfdcd52f1477d" /><Relationship Type="http://schemas.openxmlformats.org/officeDocument/2006/relationships/notesMaster" Target="/ppt/notesMasters/notesMaster1.xml" Id="R5805d1c61b444b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3bc2ab990d4e76" /><Relationship Type="http://schemas.openxmlformats.org/officeDocument/2006/relationships/notesMaster" Target="/ppt/notesMasters/notesMaster1.xml" Id="Rd2a811a3ffbf45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74ef17d3614693" /><Relationship Type="http://schemas.openxmlformats.org/officeDocument/2006/relationships/notesMaster" Target="/ppt/notesMasters/notesMaster1.xml" Id="R40da5acd9ff44f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825d3b58e047df" /><Relationship Type="http://schemas.openxmlformats.org/officeDocument/2006/relationships/notesMaster" Target="/ppt/notesMasters/notesMaster1.xml" Id="R5df0cab7bc924c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各位老师好，我们计划做一台低成本的超声参量阵定向音响。目标不是把声音做得特别响，而是验证声音能否主要送向指定方向，并把方向性、旁瓣和稳定性测出来。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项目总览 README.md，第1—2节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分三段。电脑负责音频和可选的人脸定位；ESP32把音频包络调制到四十千赫载波，并为八个通道设置不同相位；TC4428驱动九十六个换能器。所有换能器都围绕四十千赫工作，但音频形成载波两侧的边带，空气的非线性差频把它还原成可听声。因此，各通道共享同一段声音，只用相位控制声束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问答准备</a:t>
            </a:r>
          </a:p>
          <a:p xmlns:a="http://schemas.openxmlformats.org/drawingml/2006/main">
            <a:r>
              <a:t>- 问：声音怎么从40 kHz变成人耳可听？答：调制产生边带，空气非线性产生差频，不需要接收器。</a:t>
            </a:r>
          </a:p>
          <a:p xmlns:a="http://schemas.openxmlformats.org/drawingml/2006/main">
            <a:r>
              <a:t>- 问：播放音频必须烧进板子吗？答：保底版内置，完整版通过USB实时传PCM。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- 01-原理与公式.md，第2—4节</a:t>
            </a:r>
          </a:p>
          <a:p xmlns:a="http://schemas.openxmlformats.org/drawingml/2006/main">
            <a:r>
              <a:t>- 02-系统方案与硬件.md，第1节</a:t>
            </a:r>
          </a:p>
          <a:p xmlns:a="http://schemas.openxmlformats.org/drawingml/2006/main">
            <a:r>
              <a:t>- 03-软件架构.md，第1节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按三层推进。保底版只要求固定正前方定向发声，它不依赖电脑、摄像头或FPGA；完整版才加入八路相位、USB音频和电脑端人脸选择，并用实测热力图验证转向与有限尺寸焦区；如果八路结果证明有价值，再升级十六通道和逐列校准。这样视觉和声学链路解耦，任何上层功能失败都不影响保底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问答准备</a:t>
            </a:r>
          </a:p>
          <a:p xmlns:a="http://schemas.openxmlformats.org/drawingml/2006/main">
            <a:r>
              <a:t>- 问：8通道能不能任意三维聚焦？答：不能独立控制高度，只验证水平转向与x-z有限焦区。</a:t>
            </a:r>
          </a:p>
          <a:p xmlns:a="http://schemas.openxmlformats.org/drawingml/2006/main">
            <a:r>
              <a:t>- 问：为什么不用FPGA？答：当前只做8路，ESP32候选实现先经示波器验证；FPGA不是保底版必要条件。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README.md，第3节</a:t>
            </a:r>
          </a:p>
          <a:p xmlns:a="http://schemas.openxmlformats.org/drawingml/2006/main">
            <a:r>
              <a:t>- 03-软件架构.md，第2节</a:t>
            </a:r>
          </a:p>
          <a:p xmlns:a="http://schemas.openxmlformats.org/drawingml/2006/main">
            <a:r>
              <a:t>- 07-版本阶梯与风险.md，第1节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判断，保底版可行性较高，因为器件和链路都成熟，而且可以从单换能器逐步扩到十二个再到全阵。完整版的最大风险不是视觉识别，而是八通道子阵间距造成的栅瓣，以及换能器窄带带来的音质限制。因此我们不预报主瓣宽度或声压，而是扫描负三和负十分贝区域，记录旁瓣、温升与连续运行结果。最终以实测数据决定是否升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问答准备</a:t>
            </a:r>
          </a:p>
          <a:p xmlns:a="http://schemas.openxmlformats.org/drawingml/2006/main">
            <a:r>
              <a:t>- 问：定点是不是只有一个点有声？答：不是，是有限尺寸焦区，且会有旁瓣和房间反射。</a:t>
            </a:r>
          </a:p>
          <a:p xmlns:a="http://schemas.openxmlformats.org/drawingml/2006/main">
            <a:r>
              <a:t>- 问：视觉识别能否部署在ESP32？答：完整版本采用电脑端更稳，ESP32只接收目标坐标；视觉失败可回退手动。</a:t>
            </a:r>
          </a:p>
          <a:p xmlns:a="http://schemas.openxmlformats.org/drawingml/2006/main">
            <a:r>
              <a:t>- 问：安全怎么保证？答：低功率逐级测试、默认/故障静音、保险丝与实体总开关，并进行超声测量。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README.md，第2—3节</a:t>
            </a:r>
          </a:p>
          <a:p xmlns:a="http://schemas.openxmlformats.org/drawingml/2006/main">
            <a:r>
              <a:t>- 07-版本阶梯与风险.md，第1、3、4节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e895cc4c7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8bb3d0f574bc4" /><Relationship Type="http://schemas.openxmlformats.org/officeDocument/2006/relationships/slideLayout" Target="/ppt/slideLayouts/slideLayout1.xml" Id="R321638aa797f41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1638aa797f41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74fd9e744c8e" /><Relationship Type="http://schemas.openxmlformats.org/officeDocument/2006/relationships/notesSlide" Target="/ppt/notesSlides/notesSlide1.xml" Id="Rd88789700a78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96ad7483948d4" /><Relationship Type="http://schemas.openxmlformats.org/officeDocument/2006/relationships/notesSlide" Target="/ppt/notesSlides/notesSlide2.xml" Id="R5cdbfa64613742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5d13a74794433" /><Relationship Type="http://schemas.openxmlformats.org/officeDocument/2006/relationships/notesSlide" Target="/ppt/notesSlides/notesSlide3.xml" Id="Rf48348529c84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8dacdec7c4845" /><Relationship Type="http://schemas.openxmlformats.org/officeDocument/2006/relationships/notesSlide" Target="/ppt/notesSlides/notesSlide4.xml" Id="R92b859eb1e9d4d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supertitle-left">
            <a:extLst xmlns:a="http://schemas.openxmlformats.org/drawingml/2006/main">
              <a:ext uri="{FF2B5EF4-FFF2-40B4-BE49-F238E27FC236}">
                <a16:creationId xmlns:a16="http://schemas.microsoft.com/office/drawing/2014/main" id="{CDDFA2A0-9FF6-445D-AC50-211A7CE2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1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超声参量阵定向音响</a:t>
            </a:r>
          </a:p>
        </p:txBody>
      </p:sp>
      <p:sp>
        <p:nvSpPr>
          <p:cNvPr id="2" name="cover-supertitle-right">
            <a:extLst xmlns:a="http://schemas.openxmlformats.org/drawingml/2006/main">
              <a:ext uri="{FF2B5EF4-FFF2-40B4-BE49-F238E27FC236}">
                <a16:creationId xmlns:a16="http://schemas.microsoft.com/office/drawing/2014/main" id="{62398875-8759-4CA9-85A1-80F69AC3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开题交流报告 ·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3096813-1E0A-46D7-A117-B45478E0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106680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50"/>
              </a:spcAft>
              <a:buNone/>
              <a:defRPr sz="60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用超声阵列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60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把声音送向指定方向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0FBC848-E586-4BAB-A0AA-6764825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1070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4F45C6C9-A589-4A43-8E61-9F90627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音频决定“播什么”，相位决定“传向哪里”</a:t>
            </a:r>
          </a:p>
        </p:txBody>
      </p:sp>
      <p:cxnSp>
        <p:nvCxnSpPr>
          <p:cNvPr id="14" name="system-flow-line"/>
          <p:cNvCxnSpPr/>
          <p:nvPr/>
        </p:nvCxnSpPr>
        <p:spPr>
          <a:xfrm xmlns:a="http://schemas.openxmlformats.org/drawingml/2006/main">
            <a:off x="337757" y="3373755"/>
            <a:ext cx="1146048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" name="system-node-1">
            <a:extLst xmlns:a="http://schemas.openxmlformats.org/drawingml/2006/main">
              <a:ext uri="{FF2B5EF4-FFF2-40B4-BE49-F238E27FC236}">
                <a16:creationId xmlns:a16="http://schemas.microsoft.com/office/drawing/2014/main" id="{F9480140-068C-4B33-8056-890A1229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0041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system-node-2">
            <a:extLst xmlns:a="http://schemas.openxmlformats.org/drawingml/2006/main">
              <a:ext uri="{FF2B5EF4-FFF2-40B4-BE49-F238E27FC236}">
                <a16:creationId xmlns:a16="http://schemas.microsoft.com/office/drawing/2014/main" id="{2F868800-1DE6-420B-900F-4C1DA355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0041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system-node-3">
            <a:extLst xmlns:a="http://schemas.openxmlformats.org/drawingml/2006/main">
              <a:ext uri="{FF2B5EF4-FFF2-40B4-BE49-F238E27FC236}">
                <a16:creationId xmlns:a16="http://schemas.microsoft.com/office/drawing/2014/main" id="{BCFA2A7A-DC05-4A0F-84B9-1820111E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0041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system-label-1">
            <a:extLst xmlns:a="http://schemas.openxmlformats.org/drawingml/2006/main">
              <a:ext uri="{FF2B5EF4-FFF2-40B4-BE49-F238E27FC236}">
                <a16:creationId xmlns:a16="http://schemas.microsoft.com/office/drawing/2014/main" id="{E336AF8A-B97E-4269-824D-17A6A6E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194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输入与定位</a:t>
            </a:r>
          </a:p>
        </p:txBody>
      </p:sp>
      <p:sp>
        <p:nvSpPr>
          <p:cNvPr id="7" name="system-label-2">
            <a:extLst xmlns:a="http://schemas.openxmlformats.org/drawingml/2006/main">
              <a:ext uri="{FF2B5EF4-FFF2-40B4-BE49-F238E27FC236}">
                <a16:creationId xmlns:a16="http://schemas.microsoft.com/office/drawing/2014/main" id="{21E3B33E-E146-416E-A4CE-4CC5C758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194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实时调制与相位</a:t>
            </a:r>
          </a:p>
        </p:txBody>
      </p:sp>
      <p:sp>
        <p:nvSpPr>
          <p:cNvPr id="8" name="system-label-3">
            <a:extLst xmlns:a="http://schemas.openxmlformats.org/drawingml/2006/main">
              <a:ext uri="{FF2B5EF4-FFF2-40B4-BE49-F238E27FC236}">
                <a16:creationId xmlns:a16="http://schemas.microsoft.com/office/drawing/2014/main" id="{42F486BF-56B5-4BD0-9CD4-47F19238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194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阵列发射与空气解调</a:t>
            </a:r>
          </a:p>
        </p:txBody>
      </p:sp>
      <p:sp>
        <p:nvSpPr>
          <p:cNvPr id="9" name="system-body-1">
            <a:extLst xmlns:a="http://schemas.openxmlformats.org/drawingml/2006/main">
              <a:ext uri="{FF2B5EF4-FFF2-40B4-BE49-F238E27FC236}">
                <a16:creationId xmlns:a16="http://schemas.microsoft.com/office/drawing/2014/main" id="{999635DA-505C-4997-9C50-CAE20635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908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电脑端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选择音频或人脸目标
USB发送PCM与坐标</a:t>
            </a:r>
          </a:p>
        </p:txBody>
      </p:sp>
      <p:sp>
        <p:nvSpPr>
          <p:cNvPr id="10" name="system-body-2">
            <a:extLst xmlns:a="http://schemas.openxmlformats.org/drawingml/2006/main">
              <a:ext uri="{FF2B5EF4-FFF2-40B4-BE49-F238E27FC236}">
                <a16:creationId xmlns:a16="http://schemas.microsoft.com/office/drawing/2014/main" id="{055295B6-45BE-4EF9-93B7-803275F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908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ESP32-S3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生成40 kHz调幅载波
8路载波相位独立</a:t>
            </a:r>
          </a:p>
        </p:txBody>
      </p:sp>
      <p:sp>
        <p:nvSpPr>
          <p:cNvPr id="11" name="system-body-3">
            <a:extLst xmlns:a="http://schemas.openxmlformats.org/drawingml/2006/main">
              <a:ext uri="{FF2B5EF4-FFF2-40B4-BE49-F238E27FC236}">
                <a16:creationId xmlns:a16="http://schemas.microsoft.com/office/drawing/2014/main" id="{82073A85-56DB-4AE1-A308-D9F407B3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3337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驱动＋96阵元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TC4428差分驱动
空气非线性还原可听声</a:t>
            </a:r>
          </a:p>
        </p:txBody>
      </p:sp>
      <p:sp>
        <p:nvSpPr>
          <p:cNvPr id="1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220AF22-3DD0-4402-AB2E-F411E719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  <a:defRPr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235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ersions-title">
            <a:extLst xmlns:a="http://schemas.openxmlformats.org/drawingml/2006/main">
              <a:ext uri="{FF2B5EF4-FFF2-40B4-BE49-F238E27FC236}">
                <a16:creationId xmlns:a16="http://schemas.microsoft.com/office/drawing/2014/main" id="{30DB2403-D258-408F-8623-6A7298EA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先把声音做出来，再增加追踪与聚焦</a:t>
            </a:r>
          </a:p>
        </p:txBody>
      </p:sp>
      <p:cxnSp>
        <p:nvCxnSpPr>
          <p:cNvPr id="9" name="versions-progress-line"/>
          <p:cNvCxnSpPr/>
          <p:nvPr/>
        </p:nvCxnSpPr>
        <p:spPr>
          <a:xfrm xmlns:a="http://schemas.openxmlformats.org/drawingml/2006/main">
            <a:off x="393668" y="2914650"/>
            <a:ext cx="11404568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versions-highlight">
            <a:extLst xmlns:a="http://schemas.openxmlformats.org/drawingml/2006/main">
              <a:ext uri="{FF2B5EF4-FFF2-40B4-BE49-F238E27FC236}">
                <a16:creationId xmlns:a16="http://schemas.microsoft.com/office/drawing/2014/main" id="{EBFC3B0E-412A-4CC5-871C-C1B573B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57500"/>
            <a:ext cx="356873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versions-baseline">
            <a:extLst xmlns:a="http://schemas.openxmlformats.org/drawingml/2006/main">
              <a:ext uri="{FF2B5EF4-FFF2-40B4-BE49-F238E27FC236}">
                <a16:creationId xmlns:a16="http://schemas.microsoft.com/office/drawing/2014/main" id="{FC4CB665-CC6C-48F7-AC1B-DC43750F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8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保底版｜固定定向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0"/>
              </a:spcAft>
              <a:buNone/>
              <a:defRPr sz="18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96个换能器
8路同相驱动
内置测试音/语音
完成第一张实测方向图</a:t>
            </a:r>
          </a:p>
        </p:txBody>
      </p:sp>
      <p:sp>
        <p:nvSpPr>
          <p:cNvPr id="5" name="versions-full">
            <a:extLst xmlns:a="http://schemas.openxmlformats.org/drawingml/2006/main">
              <a:ext uri="{FF2B5EF4-FFF2-40B4-BE49-F238E27FC236}">
                <a16:creationId xmlns:a16="http://schemas.microsoft.com/office/drawing/2014/main" id="{EABD648C-CEA7-481A-A384-AC5C00CD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8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完整版｜8通道相控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0"/>
              </a:spcAft>
              <a:buNone/>
              <a:defRPr sz="18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USB实时音频
手动转向/焦区
电脑端点击人脸
用热力图验证峰值移动</a:t>
            </a:r>
          </a:p>
        </p:txBody>
      </p:sp>
      <p:sp>
        <p:nvSpPr>
          <p:cNvPr id="6" name="versions-advanced">
            <a:extLst xmlns:a="http://schemas.openxmlformats.org/drawingml/2006/main">
              <a:ext uri="{FF2B5EF4-FFF2-40B4-BE49-F238E27FC236}">
                <a16:creationId xmlns:a16="http://schemas.microsoft.com/office/drawing/2014/main" id="{90ADFAE7-C514-4801-82A5-E946C50B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8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进阶版｜16通道校准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0"/>
              </a:spcAft>
              <a:buNone/>
              <a:defRPr sz="18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每列独立驱动
逐通道幅相标定
可选深度传感/云台
以实测改善决定是否升级</a:t>
            </a:r>
          </a:p>
        </p:txBody>
      </p:sp>
      <p:sp>
        <p:nvSpPr>
          <p:cNvPr id="7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D501FE3-A79F-4148-95E5-416E1BC8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  <a:defRPr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58364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easibility-title">
            <a:extLst xmlns:a="http://schemas.openxmlformats.org/drawingml/2006/main">
              <a:ext uri="{FF2B5EF4-FFF2-40B4-BE49-F238E27FC236}">
                <a16:creationId xmlns:a16="http://schemas.microsoft.com/office/drawing/2014/main" id="{7E26E9B9-A4D7-48B5-A3E0-1A8F4638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保底版把握较高，完整版取决于实测标定</a:t>
            </a:r>
          </a:p>
        </p:txBody>
      </p:sp>
      <p:sp>
        <p:nvSpPr>
          <p:cNvPr id="2" name="feasibility-summary">
            <a:extLst xmlns:a="http://schemas.openxmlformats.org/drawingml/2006/main">
              <a:ext uri="{FF2B5EF4-FFF2-40B4-BE49-F238E27FC236}">
                <a16:creationId xmlns:a16="http://schemas.microsoft.com/office/drawing/2014/main" id="{C99B64FB-7FDC-4789-BE25-FA340DA4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现有ESP32-S3、成熟驱动芯片和模块化阵面可以完成原型；真正的不确定性是声压、旁瓣和语音质量。</a:t>
            </a:r>
          </a:p>
        </p:txBody>
      </p:sp>
      <p:sp>
        <p:nvSpPr>
          <p:cNvPr id="3" name="proof-card-1">
            <a:extLst xmlns:a="http://schemas.openxmlformats.org/drawingml/2006/main">
              <a:ext uri="{FF2B5EF4-FFF2-40B4-BE49-F238E27FC236}">
                <a16:creationId xmlns:a16="http://schemas.microsoft.com/office/drawing/2014/main" id="{B3981224-CDFD-42E2-9A6B-0F280145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proof-card-2">
            <a:extLst xmlns:a="http://schemas.openxmlformats.org/drawingml/2006/main">
              <a:ext uri="{FF2B5EF4-FFF2-40B4-BE49-F238E27FC236}">
                <a16:creationId xmlns:a16="http://schemas.microsoft.com/office/drawing/2014/main" id="{C5C0B7E0-EB3F-4B89-B203-8E6F19E3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5" name="proof-card-3">
            <a:extLst xmlns:a="http://schemas.openxmlformats.org/drawingml/2006/main">
              <a:ext uri="{FF2B5EF4-FFF2-40B4-BE49-F238E27FC236}">
                <a16:creationId xmlns:a16="http://schemas.microsoft.com/office/drawing/2014/main" id="{376959DE-4AA6-4FA0-A889-DEE5506F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B688FE4E-81FB-4F6B-ADB0-AADDBE98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39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1→6→12</a:t>
            </a:r>
          </a:p>
        </p:txBody>
      </p:sp>
      <p:sp>
        <p:nvSpPr>
          <p:cNvPr id="7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034EE3B4-3723-40F3-BF6A-75BF7487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−3 / −10 dB</a:t>
            </a:r>
          </a:p>
        </p:txBody>
      </p:sp>
      <p:sp>
        <p:nvSpPr>
          <p:cNvPr id="8" name="proof-stat-3">
            <a:extLst xmlns:a="http://schemas.openxmlformats.org/drawingml/2006/main">
              <a:ext uri="{FF2B5EF4-FFF2-40B4-BE49-F238E27FC236}">
                <a16:creationId xmlns:a16="http://schemas.microsoft.com/office/drawing/2014/main" id="{4EB9D805-37AF-4EB3-ABC0-834D0313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39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10–15 min</a:t>
            </a:r>
          </a:p>
        </p:txBody>
      </p:sp>
      <p:sp>
        <p:nvSpPr>
          <p:cNvPr id="9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5DC52A80-F38F-421D-AC47-C4B9C0B3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逐级上电
先验证波形、温升和空气解调</a:t>
            </a:r>
          </a:p>
        </p:txBody>
      </p:sp>
      <p:sp>
        <p:nvSpPr>
          <p:cNvPr id="10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F4E00927-6706-4252-8F4C-5B42D38F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扫描声场
同时报告主瓣、旁瓣和栅瓣</a:t>
            </a:r>
          </a:p>
        </p:txBody>
      </p:sp>
      <p:sp>
        <p:nvSpPr>
          <p:cNvPr id="11" name="proof-body-3">
            <a:extLst xmlns:a="http://schemas.openxmlformats.org/drawingml/2006/main">
              <a:ext uri="{FF2B5EF4-FFF2-40B4-BE49-F238E27FC236}">
                <a16:creationId xmlns:a16="http://schemas.microsoft.com/office/drawing/2014/main" id="{CD06A017-C3CD-491E-96B6-8867D64B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稳定性测试
默认静音，异常时立即断电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4373599B-EE04-4107-BF8D-B02582D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  <a:defRPr sz="12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4262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2026-08-07T15:37:48.7840000Z</dcterms:created>
  <dcterms:modified xsi:type="dcterms:W3CDTF">2026-08-07T15:37:48.7840000Z</dcterms:modified>
</coreProperties>
</file>